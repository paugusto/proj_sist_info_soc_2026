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2" r:id="rId3"/>
    <p:sldId id="2563" r:id="rId4"/>
    <p:sldId id="2564" r:id="rId5"/>
    <p:sldId id="2565" r:id="rId6"/>
    <p:sldId id="2566" r:id="rId7"/>
    <p:sldId id="2567" r:id="rId8"/>
    <p:sldId id="2569" r:id="rId9"/>
    <p:sldId id="2571" r:id="rId10"/>
    <p:sldId id="2572" r:id="rId11"/>
    <p:sldId id="2573" r:id="rId12"/>
    <p:sldId id="2574" r:id="rId13"/>
    <p:sldId id="2576" r:id="rId14"/>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5D1708-5757-45E4-B4D5-0A2C79EDAF95}" v="2" dt="2026-04-13T19:03:44.5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9655" autoAdjust="0"/>
  </p:normalViewPr>
  <p:slideViewPr>
    <p:cSldViewPr snapToGrid="0">
      <p:cViewPr varScale="1">
        <p:scale>
          <a:sx n="54" d="100"/>
          <a:sy n="54" d="100"/>
        </p:scale>
        <p:origin x="1338" y="27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o Augusto de Almeida Silva" userId="e567975d8e5f1902" providerId="LiveId" clId="{7AD5C02C-97C1-4F5A-ADF6-F6D8E168BE8D}"/>
    <pc:docChg chg="custSel modSld">
      <pc:chgData name="Paulo Augusto de Almeida Silva" userId="e567975d8e5f1902" providerId="LiveId" clId="{7AD5C02C-97C1-4F5A-ADF6-F6D8E168BE8D}" dt="2026-04-13T19:03:48.435" v="15" actId="6549"/>
      <pc:docMkLst>
        <pc:docMk/>
      </pc:docMkLst>
      <pc:sldChg chg="modSp mod modNotesTx">
        <pc:chgData name="Paulo Augusto de Almeida Silva" userId="e567975d8e5f1902" providerId="LiveId" clId="{7AD5C02C-97C1-4F5A-ADF6-F6D8E168BE8D}" dt="2026-04-13T19:03:48.435" v="15" actId="6549"/>
        <pc:sldMkLst>
          <pc:docMk/>
          <pc:sldMk cId="3145449491" sldId="2561"/>
        </pc:sldMkLst>
        <pc:spChg chg="mod">
          <ac:chgData name="Paulo Augusto de Almeida Silva" userId="e567975d8e5f1902" providerId="LiveId" clId="{7AD5C02C-97C1-4F5A-ADF6-F6D8E168BE8D}" dt="2026-04-13T19:00:07.606" v="2" actId="313"/>
          <ac:spMkLst>
            <pc:docMk/>
            <pc:sldMk cId="3145449491" sldId="2561"/>
            <ac:spMk id="7" creationId="{A9E7B524-346F-4432-B44E-5CB94E6275BA}"/>
          </ac:spMkLst>
        </pc:spChg>
      </pc:sldChg>
      <pc:sldChg chg="modSp mod">
        <pc:chgData name="Paulo Augusto de Almeida Silva" userId="e567975d8e5f1902" providerId="LiveId" clId="{7AD5C02C-97C1-4F5A-ADF6-F6D8E168BE8D}" dt="2026-04-13T19:03:03.784" v="13" actId="1076"/>
        <pc:sldMkLst>
          <pc:docMk/>
          <pc:sldMk cId="2625224442" sldId="2562"/>
        </pc:sldMkLst>
        <pc:spChg chg="mod">
          <ac:chgData name="Paulo Augusto de Almeida Silva" userId="e567975d8e5f1902" providerId="LiveId" clId="{7AD5C02C-97C1-4F5A-ADF6-F6D8E168BE8D}" dt="2026-04-13T18:59:52.871" v="0" actId="790"/>
          <ac:spMkLst>
            <pc:docMk/>
            <pc:sldMk cId="2625224442" sldId="2562"/>
            <ac:spMk id="7" creationId="{B870353A-34B2-428C-B4F4-5913840E905E}"/>
          </ac:spMkLst>
        </pc:spChg>
        <pc:spChg chg="mod">
          <ac:chgData name="Paulo Augusto de Almeida Silva" userId="e567975d8e5f1902" providerId="LiveId" clId="{7AD5C02C-97C1-4F5A-ADF6-F6D8E168BE8D}" dt="2026-04-13T19:03:03.784" v="13" actId="1076"/>
          <ac:spMkLst>
            <pc:docMk/>
            <pc:sldMk cId="2625224442" sldId="2562"/>
            <ac:spMk id="8" creationId="{DC69FED5-75D1-455C-A3D5-E270FBE59598}"/>
          </ac:spMkLst>
        </pc:spChg>
      </pc:sldChg>
      <pc:sldChg chg="modSp mod">
        <pc:chgData name="Paulo Augusto de Almeida Silva" userId="e567975d8e5f1902" providerId="LiveId" clId="{7AD5C02C-97C1-4F5A-ADF6-F6D8E168BE8D}" dt="2026-04-13T18:59:52.871" v="0" actId="790"/>
        <pc:sldMkLst>
          <pc:docMk/>
          <pc:sldMk cId="1154928327" sldId="2563"/>
        </pc:sldMkLst>
        <pc:spChg chg="mod">
          <ac:chgData name="Paulo Augusto de Almeida Silva" userId="e567975d8e5f1902" providerId="LiveId" clId="{7AD5C02C-97C1-4F5A-ADF6-F6D8E168BE8D}" dt="2026-04-13T18:59:52.871" v="0" actId="790"/>
          <ac:spMkLst>
            <pc:docMk/>
            <pc:sldMk cId="1154928327" sldId="2563"/>
            <ac:spMk id="4" creationId="{5F8E4992-D1B7-509E-E5A7-E48544766B28}"/>
          </ac:spMkLst>
        </pc:spChg>
        <pc:spChg chg="mod">
          <ac:chgData name="Paulo Augusto de Almeida Silva" userId="e567975d8e5f1902" providerId="LiveId" clId="{7AD5C02C-97C1-4F5A-ADF6-F6D8E168BE8D}" dt="2026-04-13T18:59:52.871" v="0" actId="790"/>
          <ac:spMkLst>
            <pc:docMk/>
            <pc:sldMk cId="1154928327" sldId="2563"/>
            <ac:spMk id="6" creationId="{BFB4EC7E-FEE3-42F6-8355-0053DF8421F9}"/>
          </ac:spMkLst>
        </pc:spChg>
      </pc:sldChg>
      <pc:sldChg chg="modSp mod">
        <pc:chgData name="Paulo Augusto de Almeida Silva" userId="e567975d8e5f1902" providerId="LiveId" clId="{7AD5C02C-97C1-4F5A-ADF6-F6D8E168BE8D}" dt="2026-04-13T18:59:52.871" v="0" actId="790"/>
        <pc:sldMkLst>
          <pc:docMk/>
          <pc:sldMk cId="921663452" sldId="2564"/>
        </pc:sldMkLst>
        <pc:spChg chg="mod">
          <ac:chgData name="Paulo Augusto de Almeida Silva" userId="e567975d8e5f1902" providerId="LiveId" clId="{7AD5C02C-97C1-4F5A-ADF6-F6D8E168BE8D}" dt="2026-04-13T18:59:52.871" v="0" actId="790"/>
          <ac:spMkLst>
            <pc:docMk/>
            <pc:sldMk cId="921663452" sldId="2564"/>
            <ac:spMk id="2" creationId="{8C9B3F40-A3D5-3807-19AC-8E8CBC6E042B}"/>
          </ac:spMkLst>
        </pc:spChg>
        <pc:spChg chg="mod">
          <ac:chgData name="Paulo Augusto de Almeida Silva" userId="e567975d8e5f1902" providerId="LiveId" clId="{7AD5C02C-97C1-4F5A-ADF6-F6D8E168BE8D}" dt="2026-04-13T18:59:52.871" v="0" actId="790"/>
          <ac:spMkLst>
            <pc:docMk/>
            <pc:sldMk cId="921663452" sldId="2564"/>
            <ac:spMk id="7" creationId="{317ADC40-A978-487E-8A3E-ED1B3E714DE2}"/>
          </ac:spMkLst>
        </pc:spChg>
      </pc:sldChg>
      <pc:sldChg chg="modSp mod">
        <pc:chgData name="Paulo Augusto de Almeida Silva" userId="e567975d8e5f1902" providerId="LiveId" clId="{7AD5C02C-97C1-4F5A-ADF6-F6D8E168BE8D}" dt="2026-04-13T19:00:32.847" v="3" actId="313"/>
        <pc:sldMkLst>
          <pc:docMk/>
          <pc:sldMk cId="1423844429" sldId="2565"/>
        </pc:sldMkLst>
        <pc:spChg chg="mod">
          <ac:chgData name="Paulo Augusto de Almeida Silva" userId="e567975d8e5f1902" providerId="LiveId" clId="{7AD5C02C-97C1-4F5A-ADF6-F6D8E168BE8D}" dt="2026-04-13T19:00:32.847" v="3" actId="313"/>
          <ac:spMkLst>
            <pc:docMk/>
            <pc:sldMk cId="1423844429" sldId="2565"/>
            <ac:spMk id="2" creationId="{810BAAAF-86C6-927B-3DD4-0D9464C3E649}"/>
          </ac:spMkLst>
        </pc:spChg>
        <pc:spChg chg="mod">
          <ac:chgData name="Paulo Augusto de Almeida Silva" userId="e567975d8e5f1902" providerId="LiveId" clId="{7AD5C02C-97C1-4F5A-ADF6-F6D8E168BE8D}" dt="2026-04-13T18:59:52.871" v="0" actId="790"/>
          <ac:spMkLst>
            <pc:docMk/>
            <pc:sldMk cId="1423844429" sldId="2565"/>
            <ac:spMk id="7" creationId="{0D3C8B7B-5739-495A-9203-20FE50B6243B}"/>
          </ac:spMkLst>
        </pc:spChg>
      </pc:sldChg>
      <pc:sldChg chg="modSp mod">
        <pc:chgData name="Paulo Augusto de Almeida Silva" userId="e567975d8e5f1902" providerId="LiveId" clId="{7AD5C02C-97C1-4F5A-ADF6-F6D8E168BE8D}" dt="2026-04-13T19:02:33.571" v="12" actId="14100"/>
        <pc:sldMkLst>
          <pc:docMk/>
          <pc:sldMk cId="20893382" sldId="2566"/>
        </pc:sldMkLst>
        <pc:spChg chg="mod">
          <ac:chgData name="Paulo Augusto de Almeida Silva" userId="e567975d8e5f1902" providerId="LiveId" clId="{7AD5C02C-97C1-4F5A-ADF6-F6D8E168BE8D}" dt="2026-04-13T19:02:33.571" v="12" actId="14100"/>
          <ac:spMkLst>
            <pc:docMk/>
            <pc:sldMk cId="20893382" sldId="2566"/>
            <ac:spMk id="2" creationId="{D6C5D2BC-4501-090F-DFC0-C2BC03153FCF}"/>
          </ac:spMkLst>
        </pc:spChg>
        <pc:spChg chg="mod">
          <ac:chgData name="Paulo Augusto de Almeida Silva" userId="e567975d8e5f1902" providerId="LiveId" clId="{7AD5C02C-97C1-4F5A-ADF6-F6D8E168BE8D}" dt="2026-04-13T18:59:52.871" v="0" actId="790"/>
          <ac:spMkLst>
            <pc:docMk/>
            <pc:sldMk cId="20893382" sldId="2566"/>
            <ac:spMk id="7" creationId="{622978A6-14F8-4F92-A35E-4DBC4CEA548B}"/>
          </ac:spMkLst>
        </pc:spChg>
      </pc:sldChg>
      <pc:sldChg chg="modSp mod">
        <pc:chgData name="Paulo Augusto de Almeida Silva" userId="e567975d8e5f1902" providerId="LiveId" clId="{7AD5C02C-97C1-4F5A-ADF6-F6D8E168BE8D}" dt="2026-04-13T19:00:48.679" v="5" actId="20577"/>
        <pc:sldMkLst>
          <pc:docMk/>
          <pc:sldMk cId="4113076032" sldId="2567"/>
        </pc:sldMkLst>
        <pc:spChg chg="mod">
          <ac:chgData name="Paulo Augusto de Almeida Silva" userId="e567975d8e5f1902" providerId="LiveId" clId="{7AD5C02C-97C1-4F5A-ADF6-F6D8E168BE8D}" dt="2026-04-13T19:00:48.679" v="5" actId="20577"/>
          <ac:spMkLst>
            <pc:docMk/>
            <pc:sldMk cId="4113076032" sldId="2567"/>
            <ac:spMk id="7" creationId="{73321036-B45A-4EB4-B80D-56359B7F609C}"/>
          </ac:spMkLst>
        </pc:spChg>
        <pc:spChg chg="mod">
          <ac:chgData name="Paulo Augusto de Almeida Silva" userId="e567975d8e5f1902" providerId="LiveId" clId="{7AD5C02C-97C1-4F5A-ADF6-F6D8E168BE8D}" dt="2026-04-13T18:59:52.871" v="0" actId="790"/>
          <ac:spMkLst>
            <pc:docMk/>
            <pc:sldMk cId="4113076032" sldId="2567"/>
            <ac:spMk id="8" creationId="{FE18745B-9A43-4BC0-87C5-21681661E888}"/>
          </ac:spMkLst>
        </pc:spChg>
      </pc:sldChg>
      <pc:sldChg chg="modSp mod">
        <pc:chgData name="Paulo Augusto de Almeida Silva" userId="e567975d8e5f1902" providerId="LiveId" clId="{7AD5C02C-97C1-4F5A-ADF6-F6D8E168BE8D}" dt="2026-04-13T19:01:12.200" v="7" actId="14100"/>
        <pc:sldMkLst>
          <pc:docMk/>
          <pc:sldMk cId="4076861607" sldId="2569"/>
        </pc:sldMkLst>
        <pc:spChg chg="mod">
          <ac:chgData name="Paulo Augusto de Almeida Silva" userId="e567975d8e5f1902" providerId="LiveId" clId="{7AD5C02C-97C1-4F5A-ADF6-F6D8E168BE8D}" dt="2026-04-13T18:59:52.871" v="0" actId="790"/>
          <ac:spMkLst>
            <pc:docMk/>
            <pc:sldMk cId="4076861607" sldId="2569"/>
            <ac:spMk id="2" creationId="{2108A315-6FF7-C0AB-9FDC-0603D3E3C4BE}"/>
          </ac:spMkLst>
        </pc:spChg>
        <pc:spChg chg="mod">
          <ac:chgData name="Paulo Augusto de Almeida Silva" userId="e567975d8e5f1902" providerId="LiveId" clId="{7AD5C02C-97C1-4F5A-ADF6-F6D8E168BE8D}" dt="2026-04-13T19:01:08.447" v="6" actId="14100"/>
          <ac:spMkLst>
            <pc:docMk/>
            <pc:sldMk cId="4076861607" sldId="2569"/>
            <ac:spMk id="3" creationId="{1069F6D2-4784-BCA9-918A-8329FD84F0B5}"/>
          </ac:spMkLst>
        </pc:spChg>
        <pc:spChg chg="mod">
          <ac:chgData name="Paulo Augusto de Almeida Silva" userId="e567975d8e5f1902" providerId="LiveId" clId="{7AD5C02C-97C1-4F5A-ADF6-F6D8E168BE8D}" dt="2026-04-13T18:59:52.871" v="0" actId="790"/>
          <ac:spMkLst>
            <pc:docMk/>
            <pc:sldMk cId="4076861607" sldId="2569"/>
            <ac:spMk id="7" creationId="{21580A5F-2C31-4C9B-A7BF-BC18F497E88E}"/>
          </ac:spMkLst>
        </pc:spChg>
        <pc:spChg chg="mod">
          <ac:chgData name="Paulo Augusto de Almeida Silva" userId="e567975d8e5f1902" providerId="LiveId" clId="{7AD5C02C-97C1-4F5A-ADF6-F6D8E168BE8D}" dt="2026-04-13T19:01:12.200" v="7" actId="14100"/>
          <ac:spMkLst>
            <pc:docMk/>
            <pc:sldMk cId="4076861607" sldId="2569"/>
            <ac:spMk id="8" creationId="{A03748E8-6A5F-4C81-B165-87C8703E5946}"/>
          </ac:spMkLst>
        </pc:spChg>
      </pc:sldChg>
      <pc:sldChg chg="modSp mod">
        <pc:chgData name="Paulo Augusto de Almeida Silva" userId="e567975d8e5f1902" providerId="LiveId" clId="{7AD5C02C-97C1-4F5A-ADF6-F6D8E168BE8D}" dt="2026-04-13T19:01:33.504" v="9" actId="14100"/>
        <pc:sldMkLst>
          <pc:docMk/>
          <pc:sldMk cId="623967674" sldId="2571"/>
        </pc:sldMkLst>
        <pc:spChg chg="mod">
          <ac:chgData name="Paulo Augusto de Almeida Silva" userId="e567975d8e5f1902" providerId="LiveId" clId="{7AD5C02C-97C1-4F5A-ADF6-F6D8E168BE8D}" dt="2026-04-13T18:59:52.871" v="0" actId="790"/>
          <ac:spMkLst>
            <pc:docMk/>
            <pc:sldMk cId="623967674" sldId="2571"/>
            <ac:spMk id="8" creationId="{8DD50CB9-870E-46D8-89AD-0A95EF02C93C}"/>
          </ac:spMkLst>
        </pc:spChg>
        <pc:spChg chg="mod">
          <ac:chgData name="Paulo Augusto de Almeida Silva" userId="e567975d8e5f1902" providerId="LiveId" clId="{7AD5C02C-97C1-4F5A-ADF6-F6D8E168BE8D}" dt="2026-04-13T19:01:33.504" v="9" actId="14100"/>
          <ac:spMkLst>
            <pc:docMk/>
            <pc:sldMk cId="623967674" sldId="2571"/>
            <ac:spMk id="9" creationId="{A91C9D54-5928-4A68-976D-AB4177E8A39E}"/>
          </ac:spMkLst>
        </pc:spChg>
      </pc:sldChg>
      <pc:sldChg chg="modSp mod">
        <pc:chgData name="Paulo Augusto de Almeida Silva" userId="e567975d8e5f1902" providerId="LiveId" clId="{7AD5C02C-97C1-4F5A-ADF6-F6D8E168BE8D}" dt="2026-04-13T18:59:52.871" v="0" actId="790"/>
        <pc:sldMkLst>
          <pc:docMk/>
          <pc:sldMk cId="1674213015" sldId="2572"/>
        </pc:sldMkLst>
        <pc:spChg chg="mod">
          <ac:chgData name="Paulo Augusto de Almeida Silva" userId="e567975d8e5f1902" providerId="LiveId" clId="{7AD5C02C-97C1-4F5A-ADF6-F6D8E168BE8D}" dt="2026-04-13T18:59:52.871" v="0" actId="790"/>
          <ac:spMkLst>
            <pc:docMk/>
            <pc:sldMk cId="1674213015" sldId="2572"/>
            <ac:spMk id="2" creationId="{1D13260E-7E6F-B631-717C-827912A3463D}"/>
          </ac:spMkLst>
        </pc:spChg>
        <pc:spChg chg="mod">
          <ac:chgData name="Paulo Augusto de Almeida Silva" userId="e567975d8e5f1902" providerId="LiveId" clId="{7AD5C02C-97C1-4F5A-ADF6-F6D8E168BE8D}" dt="2026-04-13T18:59:52.871" v="0" actId="790"/>
          <ac:spMkLst>
            <pc:docMk/>
            <pc:sldMk cId="1674213015" sldId="2572"/>
            <ac:spMk id="7" creationId="{C5FD737A-0C14-4A2E-AE7E-89A1FD2F3B2B}"/>
          </ac:spMkLst>
        </pc:spChg>
      </pc:sldChg>
      <pc:sldChg chg="modSp mod">
        <pc:chgData name="Paulo Augusto de Almeida Silva" userId="e567975d8e5f1902" providerId="LiveId" clId="{7AD5C02C-97C1-4F5A-ADF6-F6D8E168BE8D}" dt="2026-04-13T19:02:04.615" v="11" actId="1076"/>
        <pc:sldMkLst>
          <pc:docMk/>
          <pc:sldMk cId="459248315" sldId="2573"/>
        </pc:sldMkLst>
        <pc:spChg chg="mod">
          <ac:chgData name="Paulo Augusto de Almeida Silva" userId="e567975d8e5f1902" providerId="LiveId" clId="{7AD5C02C-97C1-4F5A-ADF6-F6D8E168BE8D}" dt="2026-04-13T18:59:52.871" v="0" actId="790"/>
          <ac:spMkLst>
            <pc:docMk/>
            <pc:sldMk cId="459248315" sldId="2573"/>
            <ac:spMk id="7" creationId="{792A9F3F-3473-46F4-ABFC-84000BA02E79}"/>
          </ac:spMkLst>
        </pc:spChg>
        <pc:spChg chg="mod">
          <ac:chgData name="Paulo Augusto de Almeida Silva" userId="e567975d8e5f1902" providerId="LiveId" clId="{7AD5C02C-97C1-4F5A-ADF6-F6D8E168BE8D}" dt="2026-04-13T18:59:52.871" v="0" actId="790"/>
          <ac:spMkLst>
            <pc:docMk/>
            <pc:sldMk cId="459248315" sldId="2573"/>
            <ac:spMk id="8" creationId="{19EC046C-0A3B-4589-95ED-8097F857D213}"/>
          </ac:spMkLst>
        </pc:spChg>
        <pc:spChg chg="mod">
          <ac:chgData name="Paulo Augusto de Almeida Silva" userId="e567975d8e5f1902" providerId="LiveId" clId="{7AD5C02C-97C1-4F5A-ADF6-F6D8E168BE8D}" dt="2026-04-13T18:59:52.871" v="0" actId="790"/>
          <ac:spMkLst>
            <pc:docMk/>
            <pc:sldMk cId="459248315" sldId="2573"/>
            <ac:spMk id="9" creationId="{8999C8BE-F724-4765-B048-34933190609F}"/>
          </ac:spMkLst>
        </pc:spChg>
        <pc:spChg chg="mod">
          <ac:chgData name="Paulo Augusto de Almeida Silva" userId="e567975d8e5f1902" providerId="LiveId" clId="{7AD5C02C-97C1-4F5A-ADF6-F6D8E168BE8D}" dt="2026-04-13T18:59:52.871" v="0" actId="790"/>
          <ac:spMkLst>
            <pc:docMk/>
            <pc:sldMk cId="459248315" sldId="2573"/>
            <ac:spMk id="10" creationId="{DD7E50B1-A7C7-46E6-BCDA-1C388308E634}"/>
          </ac:spMkLst>
        </pc:spChg>
        <pc:spChg chg="mod">
          <ac:chgData name="Paulo Augusto de Almeida Silva" userId="e567975d8e5f1902" providerId="LiveId" clId="{7AD5C02C-97C1-4F5A-ADF6-F6D8E168BE8D}" dt="2026-04-13T18:59:52.871" v="0" actId="790"/>
          <ac:spMkLst>
            <pc:docMk/>
            <pc:sldMk cId="459248315" sldId="2573"/>
            <ac:spMk id="11" creationId="{6F7F1C74-8E9C-4F42-A183-FDDA93735C7B}"/>
          </ac:spMkLst>
        </pc:spChg>
        <pc:spChg chg="mod">
          <ac:chgData name="Paulo Augusto de Almeida Silva" userId="e567975d8e5f1902" providerId="LiveId" clId="{7AD5C02C-97C1-4F5A-ADF6-F6D8E168BE8D}" dt="2026-04-13T19:01:59.547" v="10" actId="1076"/>
          <ac:spMkLst>
            <pc:docMk/>
            <pc:sldMk cId="459248315" sldId="2573"/>
            <ac:spMk id="12" creationId="{8C0A127D-CE47-4A5D-91E1-E244E071BF7B}"/>
          </ac:spMkLst>
        </pc:spChg>
        <pc:spChg chg="mod">
          <ac:chgData name="Paulo Augusto de Almeida Silva" userId="e567975d8e5f1902" providerId="LiveId" clId="{7AD5C02C-97C1-4F5A-ADF6-F6D8E168BE8D}" dt="2026-04-13T19:02:04.615" v="11" actId="1076"/>
          <ac:spMkLst>
            <pc:docMk/>
            <pc:sldMk cId="459248315" sldId="2573"/>
            <ac:spMk id="13" creationId="{C30A5076-334D-4428-BDE1-31720F29E310}"/>
          </ac:spMkLst>
        </pc:spChg>
      </pc:sldChg>
      <pc:sldChg chg="modSp mod">
        <pc:chgData name="Paulo Augusto de Almeida Silva" userId="e567975d8e5f1902" providerId="LiveId" clId="{7AD5C02C-97C1-4F5A-ADF6-F6D8E168BE8D}" dt="2026-04-13T18:59:52.871" v="0" actId="790"/>
        <pc:sldMkLst>
          <pc:docMk/>
          <pc:sldMk cId="945661057" sldId="2574"/>
        </pc:sldMkLst>
        <pc:spChg chg="mod">
          <ac:chgData name="Paulo Augusto de Almeida Silva" userId="e567975d8e5f1902" providerId="LiveId" clId="{7AD5C02C-97C1-4F5A-ADF6-F6D8E168BE8D}" dt="2026-04-13T18:59:52.871" v="0" actId="790"/>
          <ac:spMkLst>
            <pc:docMk/>
            <pc:sldMk cId="945661057" sldId="2574"/>
            <ac:spMk id="7" creationId="{ECDAACD6-4F82-45E5-AD6D-370AB0D73422}"/>
          </ac:spMkLst>
        </pc:spChg>
        <pc:spChg chg="mod">
          <ac:chgData name="Paulo Augusto de Almeida Silva" userId="e567975d8e5f1902" providerId="LiveId" clId="{7AD5C02C-97C1-4F5A-ADF6-F6D8E168BE8D}" dt="2026-04-13T18:59:52.871" v="0" actId="790"/>
          <ac:spMkLst>
            <pc:docMk/>
            <pc:sldMk cId="945661057" sldId="2574"/>
            <ac:spMk id="9" creationId="{B9C16312-F6FC-4E44-B301-161BC44D2C1B}"/>
          </ac:spMkLst>
        </pc:spChg>
      </pc:sldChg>
      <pc:sldChg chg="modSp mod">
        <pc:chgData name="Paulo Augusto de Almeida Silva" userId="e567975d8e5f1902" providerId="LiveId" clId="{7AD5C02C-97C1-4F5A-ADF6-F6D8E168BE8D}" dt="2026-04-13T18:59:52.871" v="0" actId="790"/>
        <pc:sldMkLst>
          <pc:docMk/>
          <pc:sldMk cId="1988393627" sldId="2576"/>
        </pc:sldMkLst>
        <pc:spChg chg="mod">
          <ac:chgData name="Paulo Augusto de Almeida Silva" userId="e567975d8e5f1902" providerId="LiveId" clId="{7AD5C02C-97C1-4F5A-ADF6-F6D8E168BE8D}" dt="2026-04-13T18:59:52.871" v="0" actId="790"/>
          <ac:spMkLst>
            <pc:docMk/>
            <pc:sldMk cId="1988393627" sldId="2576"/>
            <ac:spMk id="2" creationId="{34F631BC-401F-481D-E4D4-ABE3647A123C}"/>
          </ac:spMkLst>
        </pc:spChg>
        <pc:spChg chg="mod">
          <ac:chgData name="Paulo Augusto de Almeida Silva" userId="e567975d8e5f1902" providerId="LiveId" clId="{7AD5C02C-97C1-4F5A-ADF6-F6D8E168BE8D}" dt="2026-04-13T18:59:52.871" v="0" actId="790"/>
          <ac:spMkLst>
            <pc:docMk/>
            <pc:sldMk cId="1988393627" sldId="2576"/>
            <ac:spMk id="3" creationId="{0808993F-354E-30C8-BBA1-E46C7B9C0A5D}"/>
          </ac:spMkLst>
        </pc:spChg>
        <pc:spChg chg="mod">
          <ac:chgData name="Paulo Augusto de Almeida Silva" userId="e567975d8e5f1902" providerId="LiveId" clId="{7AD5C02C-97C1-4F5A-ADF6-F6D8E168BE8D}" dt="2026-04-13T18:59:52.871" v="0" actId="790"/>
          <ac:spMkLst>
            <pc:docMk/>
            <pc:sldMk cId="1988393627" sldId="2576"/>
            <ac:spMk id="4" creationId="{AA90A475-814C-48D1-9949-D218FED7C834}"/>
          </ac:spMkLst>
        </pc:spChg>
        <pc:spChg chg="mod">
          <ac:chgData name="Paulo Augusto de Almeida Silva" userId="e567975d8e5f1902" providerId="LiveId" clId="{7AD5C02C-97C1-4F5A-ADF6-F6D8E168BE8D}" dt="2026-04-13T18:59:52.871" v="0" actId="790"/>
          <ac:spMkLst>
            <pc:docMk/>
            <pc:sldMk cId="1988393627" sldId="2576"/>
            <ac:spMk id="6" creationId="{BAE07077-CE29-4660-8671-A729ED89B9D3}"/>
          </ac:spMkLst>
        </pc:spChg>
        <pc:spChg chg="mod">
          <ac:chgData name="Paulo Augusto de Almeida Silva" userId="e567975d8e5f1902" providerId="LiveId" clId="{7AD5C02C-97C1-4F5A-ADF6-F6D8E168BE8D}" dt="2026-04-13T18:59:52.871" v="0" actId="790"/>
          <ac:spMkLst>
            <pc:docMk/>
            <pc:sldMk cId="1988393627" sldId="2576"/>
            <ac:spMk id="7" creationId="{2EBC5D5D-0996-4CE8-9CED-806736A73377}"/>
          </ac:spMkLst>
        </pc:spChg>
        <pc:spChg chg="mod">
          <ac:chgData name="Paulo Augusto de Almeida Silva" userId="e567975d8e5f1902" providerId="LiveId" clId="{7AD5C02C-97C1-4F5A-ADF6-F6D8E168BE8D}" dt="2026-04-13T18:59:52.871" v="0" actId="790"/>
          <ac:spMkLst>
            <pc:docMk/>
            <pc:sldMk cId="1988393627" sldId="2576"/>
            <ac:spMk id="8" creationId="{9BE411E6-7858-4F77-99F3-519B33824DC2}"/>
          </ac:spMkLst>
        </pc:spChg>
        <pc:spChg chg="mod">
          <ac:chgData name="Paulo Augusto de Almeida Silva" userId="e567975d8e5f1902" providerId="LiveId" clId="{7AD5C02C-97C1-4F5A-ADF6-F6D8E168BE8D}" dt="2026-04-13T18:59:52.871" v="0" actId="790"/>
          <ac:spMkLst>
            <pc:docMk/>
            <pc:sldMk cId="1988393627" sldId="2576"/>
            <ac:spMk id="9" creationId="{958AC1E4-0A1C-48B8-B064-BDBA7D6F0EEC}"/>
          </ac:spMkLst>
        </pc:spChg>
        <pc:spChg chg="mod">
          <ac:chgData name="Paulo Augusto de Almeida Silva" userId="e567975d8e5f1902" providerId="LiveId" clId="{7AD5C02C-97C1-4F5A-ADF6-F6D8E168BE8D}" dt="2026-04-13T18:59:52.871" v="0" actId="790"/>
          <ac:spMkLst>
            <pc:docMk/>
            <pc:sldMk cId="1988393627" sldId="2576"/>
            <ac:spMk id="10" creationId="{DB881821-A0D6-6467-5797-8C62136439F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DAD840-20BF-414D-BF13-35BDF4A054AF}" type="datetimeFigureOut">
              <a:t>13/04/2026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92F4DB-D687-424B-991D-5EC3620B50F5}" type="slidenum">
              <a:t>‹nº›</a:t>
            </a:fld>
            <a:endParaRPr lang="en-US"/>
          </a:p>
        </p:txBody>
      </p:sp>
    </p:spTree>
    <p:extLst>
      <p:ext uri="{BB962C8B-B14F-4D97-AF65-F5344CB8AC3E}">
        <p14:creationId xmlns:p14="http://schemas.microsoft.com/office/powerpoint/2010/main" val="645620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Image source: AI-generated</a:t>
            </a:r>
          </a:p>
        </p:txBody>
      </p:sp>
      <p:sp>
        <p:nvSpPr>
          <p:cNvPr id="4" name="Slide Number Placeholder 3"/>
          <p:cNvSpPr>
            <a:spLocks noGrp="1"/>
          </p:cNvSpPr>
          <p:nvPr>
            <p:ph type="sldNum" sz="quarter" idx="5"/>
          </p:nvPr>
        </p:nvSpPr>
        <p:spPr/>
        <p:txBody>
          <a:bodyPr/>
          <a:lstStyle/>
          <a:p>
            <a:fld id="{957C3902-BE6F-4D63-B9BD-BD688B9FDC2E}" type="slidenum">
              <a:t>1</a:t>
            </a:fld>
            <a:endParaRPr lang="en-US"/>
          </a:p>
        </p:txBody>
      </p:sp>
    </p:spTree>
    <p:extLst>
      <p:ext uri="{BB962C8B-B14F-4D97-AF65-F5344CB8AC3E}">
        <p14:creationId xmlns:p14="http://schemas.microsoft.com/office/powerpoint/2010/main" val="3803473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presents key metadata and bibliographic information about the article, contextualizing the source material on the evolution of space, time, and motion concepts.</a:t>
            </a:r>
          </a:p>
        </p:txBody>
      </p:sp>
      <p:sp>
        <p:nvSpPr>
          <p:cNvPr id="4" name="Slide Number Placeholder 3"/>
          <p:cNvSpPr>
            <a:spLocks noGrp="1"/>
          </p:cNvSpPr>
          <p:nvPr>
            <p:ph type="sldNum" sz="quarter" idx="5"/>
          </p:nvPr>
        </p:nvSpPr>
        <p:spPr/>
        <p:txBody>
          <a:bodyPr/>
          <a:lstStyle/>
          <a:p>
            <a:fld id="{957C3902-BE6F-4D63-B9BD-BD688B9FDC2E}" type="slidenum">
              <a:t>2</a:t>
            </a:fld>
            <a:endParaRPr lang="en-US"/>
          </a:p>
        </p:txBody>
      </p:sp>
    </p:spTree>
    <p:extLst>
      <p:ext uri="{BB962C8B-B14F-4D97-AF65-F5344CB8AC3E}">
        <p14:creationId xmlns:p14="http://schemas.microsoft.com/office/powerpoint/2010/main" val="827567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explore the article's introductory remarks and core objectives, which include tracing conceptual shifts and clarifying ontological perspectives on space and time through history.</a:t>
            </a:r>
          </a:p>
        </p:txBody>
      </p:sp>
      <p:sp>
        <p:nvSpPr>
          <p:cNvPr id="4" name="Slide Number Placeholder 3"/>
          <p:cNvSpPr>
            <a:spLocks noGrp="1"/>
          </p:cNvSpPr>
          <p:nvPr>
            <p:ph type="sldNum" sz="quarter" idx="5"/>
          </p:nvPr>
        </p:nvSpPr>
        <p:spPr/>
        <p:txBody>
          <a:bodyPr/>
          <a:lstStyle/>
          <a:p>
            <a:fld id="{957C3902-BE6F-4D63-B9BD-BD688B9FDC2E}" type="slidenum">
              <a:t>3</a:t>
            </a:fld>
            <a:endParaRPr lang="en-US"/>
          </a:p>
        </p:txBody>
      </p:sp>
    </p:spTree>
    <p:extLst>
      <p:ext uri="{BB962C8B-B14F-4D97-AF65-F5344CB8AC3E}">
        <p14:creationId xmlns:p14="http://schemas.microsoft.com/office/powerpoint/2010/main" val="3772696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reviews Aristotle's influence on the concepts of place, motion, and time, emphasizing his qualitative approach and its impact on later thinkers. 
 Image source: AI-generated</a:t>
            </a:r>
          </a:p>
        </p:txBody>
      </p:sp>
      <p:sp>
        <p:nvSpPr>
          <p:cNvPr id="4" name="Slide Number Placeholder 3"/>
          <p:cNvSpPr>
            <a:spLocks noGrp="1"/>
          </p:cNvSpPr>
          <p:nvPr>
            <p:ph type="sldNum" sz="quarter" idx="5"/>
          </p:nvPr>
        </p:nvSpPr>
        <p:spPr/>
        <p:txBody>
          <a:bodyPr/>
          <a:lstStyle/>
          <a:p>
            <a:fld id="{957C3902-BE6F-4D63-B9BD-BD688B9FDC2E}" type="slidenum">
              <a:t>4</a:t>
            </a:fld>
            <a:endParaRPr lang="en-US"/>
          </a:p>
        </p:txBody>
      </p:sp>
    </p:spTree>
    <p:extLst>
      <p:ext uri="{BB962C8B-B14F-4D97-AF65-F5344CB8AC3E}">
        <p14:creationId xmlns:p14="http://schemas.microsoft.com/office/powerpoint/2010/main" val="1955686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examination of contrasting ontological views of space—whether as a relational entity defined by objects or as an absolute container independent of them. 
 Image source: AI-generated</a:t>
            </a:r>
          </a:p>
        </p:txBody>
      </p:sp>
      <p:sp>
        <p:nvSpPr>
          <p:cNvPr id="4" name="Slide Number Placeholder 3"/>
          <p:cNvSpPr>
            <a:spLocks noGrp="1"/>
          </p:cNvSpPr>
          <p:nvPr>
            <p:ph type="sldNum" sz="quarter" idx="5"/>
          </p:nvPr>
        </p:nvSpPr>
        <p:spPr/>
        <p:txBody>
          <a:bodyPr/>
          <a:lstStyle/>
          <a:p>
            <a:fld id="{957C3902-BE6F-4D63-B9BD-BD688B9FDC2E}" type="slidenum">
              <a:t>5</a:t>
            </a:fld>
            <a:endParaRPr lang="en-US"/>
          </a:p>
        </p:txBody>
      </p:sp>
    </p:spTree>
    <p:extLst>
      <p:ext uri="{BB962C8B-B14F-4D97-AF65-F5344CB8AC3E}">
        <p14:creationId xmlns:p14="http://schemas.microsoft.com/office/powerpoint/2010/main" val="796630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discusses varying perspectives on time's nature, including its directionality and independence from material phenomena. 
 Image source: AI-generated</a:t>
            </a:r>
          </a:p>
        </p:txBody>
      </p:sp>
      <p:sp>
        <p:nvSpPr>
          <p:cNvPr id="4" name="Slide Number Placeholder 3"/>
          <p:cNvSpPr>
            <a:spLocks noGrp="1"/>
          </p:cNvSpPr>
          <p:nvPr>
            <p:ph type="sldNum" sz="quarter" idx="5"/>
          </p:nvPr>
        </p:nvSpPr>
        <p:spPr/>
        <p:txBody>
          <a:bodyPr/>
          <a:lstStyle/>
          <a:p>
            <a:fld id="{957C3902-BE6F-4D63-B9BD-BD688B9FDC2E}" type="slidenum">
              <a:t>6</a:t>
            </a:fld>
            <a:endParaRPr lang="en-US"/>
          </a:p>
        </p:txBody>
      </p:sp>
    </p:spTree>
    <p:extLst>
      <p:ext uri="{BB962C8B-B14F-4D97-AF65-F5344CB8AC3E}">
        <p14:creationId xmlns:p14="http://schemas.microsoft.com/office/powerpoint/2010/main" val="29827992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explore Galileo's principle stating that the laws of mechanics are the same in all inertial frames, forming a cornerstone for classical mechanics. 
 Image source: AI-generated</a:t>
            </a:r>
          </a:p>
        </p:txBody>
      </p:sp>
      <p:sp>
        <p:nvSpPr>
          <p:cNvPr id="4" name="Slide Number Placeholder 3"/>
          <p:cNvSpPr>
            <a:spLocks noGrp="1"/>
          </p:cNvSpPr>
          <p:nvPr>
            <p:ph type="sldNum" sz="quarter" idx="5"/>
          </p:nvPr>
        </p:nvSpPr>
        <p:spPr/>
        <p:txBody>
          <a:bodyPr/>
          <a:lstStyle/>
          <a:p>
            <a:fld id="{957C3902-BE6F-4D63-B9BD-BD688B9FDC2E}" type="slidenum">
              <a:t>7</a:t>
            </a:fld>
            <a:endParaRPr lang="en-US"/>
          </a:p>
        </p:txBody>
      </p:sp>
    </p:spTree>
    <p:extLst>
      <p:ext uri="{BB962C8B-B14F-4D97-AF65-F5344CB8AC3E}">
        <p14:creationId xmlns:p14="http://schemas.microsoft.com/office/powerpoint/2010/main" val="2224448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Newton's concept of absolute space as a fixed, unchanging backdrop against which motion is measured is detailed here. 
 Image source: AI-generated</a:t>
            </a:r>
          </a:p>
        </p:txBody>
      </p:sp>
      <p:sp>
        <p:nvSpPr>
          <p:cNvPr id="4" name="Slide Number Placeholder 3"/>
          <p:cNvSpPr>
            <a:spLocks noGrp="1"/>
          </p:cNvSpPr>
          <p:nvPr>
            <p:ph type="sldNum" sz="quarter" idx="5"/>
          </p:nvPr>
        </p:nvSpPr>
        <p:spPr/>
        <p:txBody>
          <a:bodyPr/>
          <a:lstStyle/>
          <a:p>
            <a:fld id="{957C3902-BE6F-4D63-B9BD-BD688B9FDC2E}" type="slidenum">
              <a:t>8</a:t>
            </a:fld>
            <a:endParaRPr lang="en-US"/>
          </a:p>
        </p:txBody>
      </p:sp>
    </p:spTree>
    <p:extLst>
      <p:ext uri="{BB962C8B-B14F-4D97-AF65-F5344CB8AC3E}">
        <p14:creationId xmlns:p14="http://schemas.microsoft.com/office/powerpoint/2010/main" val="36281586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outlines the philosophical and scientific arguments supporting the existence of absolute motion as distinct from relative motion. 
 Image source: AI-generated</a:t>
            </a:r>
          </a:p>
        </p:txBody>
      </p:sp>
      <p:sp>
        <p:nvSpPr>
          <p:cNvPr id="4" name="Slide Number Placeholder 3"/>
          <p:cNvSpPr>
            <a:spLocks noGrp="1"/>
          </p:cNvSpPr>
          <p:nvPr>
            <p:ph type="sldNum" sz="quarter" idx="5"/>
          </p:nvPr>
        </p:nvSpPr>
        <p:spPr/>
        <p:txBody>
          <a:bodyPr/>
          <a:lstStyle/>
          <a:p>
            <a:fld id="{957C3902-BE6F-4D63-B9BD-BD688B9FDC2E}" type="slidenum">
              <a:t>9</a:t>
            </a:fld>
            <a:endParaRPr lang="en-US"/>
          </a:p>
        </p:txBody>
      </p:sp>
    </p:spTree>
    <p:extLst>
      <p:ext uri="{BB962C8B-B14F-4D97-AF65-F5344CB8AC3E}">
        <p14:creationId xmlns:p14="http://schemas.microsoft.com/office/powerpoint/2010/main" val="1695200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introduction to Einstein's special relativity theory, which redefines space and time as interwoven and relative to observers' motion. 
 Image source: AI-generated</a:t>
            </a:r>
          </a:p>
        </p:txBody>
      </p:sp>
      <p:sp>
        <p:nvSpPr>
          <p:cNvPr id="4" name="Slide Number Placeholder 3"/>
          <p:cNvSpPr>
            <a:spLocks noGrp="1"/>
          </p:cNvSpPr>
          <p:nvPr>
            <p:ph type="sldNum" sz="quarter" idx="5"/>
          </p:nvPr>
        </p:nvSpPr>
        <p:spPr/>
        <p:txBody>
          <a:bodyPr/>
          <a:lstStyle/>
          <a:p>
            <a:fld id="{957C3902-BE6F-4D63-B9BD-BD688B9FDC2E}" type="slidenum">
              <a:t>10</a:t>
            </a:fld>
            <a:endParaRPr lang="en-US"/>
          </a:p>
        </p:txBody>
      </p:sp>
    </p:spTree>
    <p:extLst>
      <p:ext uri="{BB962C8B-B14F-4D97-AF65-F5344CB8AC3E}">
        <p14:creationId xmlns:p14="http://schemas.microsoft.com/office/powerpoint/2010/main" val="1601171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introduces Minkowski's four-dimensional geometric formulation of space-time, providing the mathematical foundation for special relativity. 
 Image source: AI-generated</a:t>
            </a:r>
          </a:p>
        </p:txBody>
      </p:sp>
      <p:sp>
        <p:nvSpPr>
          <p:cNvPr id="4" name="Slide Number Placeholder 3"/>
          <p:cNvSpPr>
            <a:spLocks noGrp="1"/>
          </p:cNvSpPr>
          <p:nvPr>
            <p:ph type="sldNum" sz="quarter" idx="5"/>
          </p:nvPr>
        </p:nvSpPr>
        <p:spPr/>
        <p:txBody>
          <a:bodyPr/>
          <a:lstStyle/>
          <a:p>
            <a:fld id="{957C3902-BE6F-4D63-B9BD-BD688B9FDC2E}" type="slidenum">
              <a:t>11</a:t>
            </a:fld>
            <a:endParaRPr lang="en-US"/>
          </a:p>
        </p:txBody>
      </p:sp>
    </p:spTree>
    <p:extLst>
      <p:ext uri="{BB962C8B-B14F-4D97-AF65-F5344CB8AC3E}">
        <p14:creationId xmlns:p14="http://schemas.microsoft.com/office/powerpoint/2010/main" val="715597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examine Einstein's general relativity, which describes gravity as the curvature of dynamic space-time, effectively ending the notion of absolute space and time. 
 Image source: AI-generated</a:t>
            </a:r>
          </a:p>
        </p:txBody>
      </p:sp>
      <p:sp>
        <p:nvSpPr>
          <p:cNvPr id="4" name="Slide Number Placeholder 3"/>
          <p:cNvSpPr>
            <a:spLocks noGrp="1"/>
          </p:cNvSpPr>
          <p:nvPr>
            <p:ph type="sldNum" sz="quarter" idx="5"/>
          </p:nvPr>
        </p:nvSpPr>
        <p:spPr/>
        <p:txBody>
          <a:bodyPr/>
          <a:lstStyle/>
          <a:p>
            <a:fld id="{957C3902-BE6F-4D63-B9BD-BD688B9FDC2E}" type="slidenum">
              <a:t>12</a:t>
            </a:fld>
            <a:endParaRPr lang="en-US"/>
          </a:p>
        </p:txBody>
      </p:sp>
    </p:spTree>
    <p:extLst>
      <p:ext uri="{BB962C8B-B14F-4D97-AF65-F5344CB8AC3E}">
        <p14:creationId xmlns:p14="http://schemas.microsoft.com/office/powerpoint/2010/main" val="2154530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conclude by summarizing the transformation from absolute and static notions of space and time to modern relativistic and dynamic frameworks, highlighting ongoing philosophical and scientific implications.</a:t>
            </a:r>
          </a:p>
        </p:txBody>
      </p:sp>
      <p:sp>
        <p:nvSpPr>
          <p:cNvPr id="4" name="Slide Number Placeholder 3"/>
          <p:cNvSpPr>
            <a:spLocks noGrp="1"/>
          </p:cNvSpPr>
          <p:nvPr>
            <p:ph type="sldNum" sz="quarter" idx="5"/>
          </p:nvPr>
        </p:nvSpPr>
        <p:spPr/>
        <p:txBody>
          <a:bodyPr/>
          <a:lstStyle/>
          <a:p>
            <a:fld id="{957C3902-BE6F-4D63-B9BD-BD688B9FDC2E}" type="slidenum">
              <a:t>13</a:t>
            </a:fld>
            <a:endParaRPr lang="en-US"/>
          </a:p>
        </p:txBody>
      </p:sp>
    </p:spTree>
    <p:extLst>
      <p:ext uri="{BB962C8B-B14F-4D97-AF65-F5344CB8AC3E}">
        <p14:creationId xmlns:p14="http://schemas.microsoft.com/office/powerpoint/2010/main" val="3475852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2B45F7-D091-E39A-0F8F-CB327AE34EF4}"/>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BBE9752-96A3-DCB7-EA0C-466C8723C6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3FEEDC74-0232-4D47-F7A5-10F13E3B963B}"/>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5" name="Espaço Reservado para Rodapé 4">
            <a:extLst>
              <a:ext uri="{FF2B5EF4-FFF2-40B4-BE49-F238E27FC236}">
                <a16:creationId xmlns:a16="http://schemas.microsoft.com/office/drawing/2014/main" id="{3CB6E13D-49D0-84BB-FF77-5CA9916AD34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884C2C2-7ACE-30F9-CE16-4C4D30A40EC3}"/>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776475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8D54EA-2D67-C36F-73C5-0D3119A3466A}"/>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58B597A-520F-DCEC-15CE-87ACC57E6B8D}"/>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22BB3E5-A0D5-6F5D-3049-1D435784C4AD}"/>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5" name="Espaço Reservado para Rodapé 4">
            <a:extLst>
              <a:ext uri="{FF2B5EF4-FFF2-40B4-BE49-F238E27FC236}">
                <a16:creationId xmlns:a16="http://schemas.microsoft.com/office/drawing/2014/main" id="{456E8B3F-6073-95D5-DC2A-778D87A1934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177B285-11B3-7CEB-8DE3-7E2871062F16}"/>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1573000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2DC19D-BF44-3DCC-8DA1-C61D74EDC57C}"/>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746F641A-CB96-4F9C-62E1-1D61283DA75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3ECFF712-E38F-2CF9-C958-E4EC85E72626}"/>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5" name="Espaço Reservado para Rodapé 4">
            <a:extLst>
              <a:ext uri="{FF2B5EF4-FFF2-40B4-BE49-F238E27FC236}">
                <a16:creationId xmlns:a16="http://schemas.microsoft.com/office/drawing/2014/main" id="{47182905-28B4-1CED-3CF4-CBA1B74AE41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10A6FEB5-4D09-9DC9-A025-52697EE9EEAF}"/>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1898904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CE1990-B19C-1388-69C7-747BB1011A1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8F9F6B55-13B5-2E2E-E8A8-44334936B10E}"/>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F230E237-9225-B061-6298-FF58356AAED6}"/>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18544F3A-23B5-FC15-05FB-8BB7E0300563}"/>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6" name="Espaço Reservado para Rodapé 5">
            <a:extLst>
              <a:ext uri="{FF2B5EF4-FFF2-40B4-BE49-F238E27FC236}">
                <a16:creationId xmlns:a16="http://schemas.microsoft.com/office/drawing/2014/main" id="{7E09E9A3-31AC-17C7-8327-B8E5AB3A7B6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F20115B-2053-2E3F-D909-E17CA0C02C19}"/>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1130616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31883B-4987-B8AB-C39F-45E00590C139}"/>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9E4ED4B3-6D20-3E44-792F-897BC42EA7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C9DED64B-DFFE-A5FC-E5DA-7B65CB8BD7B5}"/>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8E960AB1-5B09-53A9-342A-64EFE4E5BA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037DB2B3-C85A-79E8-2C69-CAEAF684B320}"/>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A7233B28-7EE4-0D75-84AB-C3E3E02EE7AD}"/>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8" name="Espaço Reservado para Rodapé 7">
            <a:extLst>
              <a:ext uri="{FF2B5EF4-FFF2-40B4-BE49-F238E27FC236}">
                <a16:creationId xmlns:a16="http://schemas.microsoft.com/office/drawing/2014/main" id="{33DC82F6-BD24-9820-04F0-1BD2BE82FC86}"/>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118979C9-AF11-0F8C-4A1D-AA8B08AB9DAA}"/>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978561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370038-CFD9-022A-D0CF-A3908EC149D7}"/>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EF2C619C-CC59-9CE0-0C83-7B5C217332CB}"/>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4" name="Espaço Reservado para Rodapé 3">
            <a:extLst>
              <a:ext uri="{FF2B5EF4-FFF2-40B4-BE49-F238E27FC236}">
                <a16:creationId xmlns:a16="http://schemas.microsoft.com/office/drawing/2014/main" id="{9E2D2C9B-9A11-9A20-968B-8FB85C1841D6}"/>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702F2ED8-684E-84D4-6282-EA185F833822}"/>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1135191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1E20538-48D5-1BB8-31B4-5B9BA1902D0B}"/>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3" name="Espaço Reservado para Rodapé 2">
            <a:extLst>
              <a:ext uri="{FF2B5EF4-FFF2-40B4-BE49-F238E27FC236}">
                <a16:creationId xmlns:a16="http://schemas.microsoft.com/office/drawing/2014/main" id="{6F931403-F7DD-CB16-7196-B1F95368E615}"/>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F49632FA-A3C5-2BB4-7F22-706854F16B9C}"/>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2838648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774F29-A16B-0DE7-FFA4-FC90405FF7EB}"/>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8F349D0-D4EC-AB04-3E1A-D49D2A2A12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8A8E2110-AE64-FEC2-11E3-EA4A4FADFF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29EF0CA-3B42-B834-6F55-3F9B9F0DB86A}"/>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6" name="Espaço Reservado para Rodapé 5">
            <a:extLst>
              <a:ext uri="{FF2B5EF4-FFF2-40B4-BE49-F238E27FC236}">
                <a16:creationId xmlns:a16="http://schemas.microsoft.com/office/drawing/2014/main" id="{3F49780D-1AB1-12EF-7580-FDA44F0E02CE}"/>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EEE0A1E-40F4-7672-2AC2-9BDAC25FE2C7}"/>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2256441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9EF3DA-7106-C278-2914-03A205C34C4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0F086DD9-8DF8-DC9E-AA10-FAB506E3F6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C5F35239-FF83-9562-AA99-43C597F053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3E1A257-616B-B9A0-91DD-4264F99AA7D0}"/>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6" name="Espaço Reservado para Rodapé 5">
            <a:extLst>
              <a:ext uri="{FF2B5EF4-FFF2-40B4-BE49-F238E27FC236}">
                <a16:creationId xmlns:a16="http://schemas.microsoft.com/office/drawing/2014/main" id="{48ABBFB0-FA8F-BE6A-3744-2BCB8BD86835}"/>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5B518E73-26FE-6D30-0969-4A850E73B4FA}"/>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2464469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19E923-B866-68B1-F203-FEB73A2F9A47}"/>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D3C04C41-D161-4D1A-A8E7-8601A9A7BF6A}"/>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0C74597-FC93-0DF4-31E2-F7EE60B86BC1}"/>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5" name="Espaço Reservado para Rodapé 4">
            <a:extLst>
              <a:ext uri="{FF2B5EF4-FFF2-40B4-BE49-F238E27FC236}">
                <a16:creationId xmlns:a16="http://schemas.microsoft.com/office/drawing/2014/main" id="{CBEDF4EE-F768-62BB-11C4-714B392182B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5BDD062-8842-B929-01F8-B398D3BCE08B}"/>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3508452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AC70810-2D34-7BA0-EDD4-EDBD532E220C}"/>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9C64373C-93E4-3676-678C-79CE76D3A8EC}"/>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5B46765-220D-B290-93A2-91433542A8BC}"/>
              </a:ext>
            </a:extLst>
          </p:cNvPr>
          <p:cNvSpPr>
            <a:spLocks noGrp="1"/>
          </p:cNvSpPr>
          <p:nvPr>
            <p:ph type="dt" sz="half" idx="10"/>
          </p:nvPr>
        </p:nvSpPr>
        <p:spPr/>
        <p:txBody>
          <a:bodyPr/>
          <a:lstStyle/>
          <a:p>
            <a:fld id="{E9CCF675-99B3-44F5-81D6-B163FBA2DD43}" type="datetimeFigureOut">
              <a:rPr lang="pt-BR" smtClean="0"/>
              <a:t>13/04/2026</a:t>
            </a:fld>
            <a:endParaRPr lang="pt-BR"/>
          </a:p>
        </p:txBody>
      </p:sp>
      <p:sp>
        <p:nvSpPr>
          <p:cNvPr id="5" name="Espaço Reservado para Rodapé 4">
            <a:extLst>
              <a:ext uri="{FF2B5EF4-FFF2-40B4-BE49-F238E27FC236}">
                <a16:creationId xmlns:a16="http://schemas.microsoft.com/office/drawing/2014/main" id="{AA0A3AAA-10EB-89CA-7317-F45F2E60D3B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EB77E3C5-503C-8929-186E-B57AFFAD423D}"/>
              </a:ext>
            </a:extLst>
          </p:cNvPr>
          <p:cNvSpPr>
            <a:spLocks noGrp="1"/>
          </p:cNvSpPr>
          <p:nvPr>
            <p:ph type="sldNum" sz="quarter" idx="12"/>
          </p:nvPr>
        </p:nvSpPr>
        <p:spPr/>
        <p:txBody>
          <a:bodyPr/>
          <a:lstStyle/>
          <a:p>
            <a:fld id="{34E081B1-B943-4470-AE1D-1A42BBAE8D98}" type="slidenum">
              <a:rPr lang="pt-BR" smtClean="0"/>
              <a:t>‹nº›</a:t>
            </a:fld>
            <a:endParaRPr lang="pt-BR"/>
          </a:p>
        </p:txBody>
      </p:sp>
    </p:spTree>
    <p:extLst>
      <p:ext uri="{BB962C8B-B14F-4D97-AF65-F5344CB8AC3E}">
        <p14:creationId xmlns:p14="http://schemas.microsoft.com/office/powerpoint/2010/main" val="2978532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639D540D-9ABE-891C-4976-97C78B59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FFAD06C0-D2D7-936F-3F22-8B38BFEB49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B7BF38F-3E75-BF65-FFFD-CE0C957620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CCF675-99B3-44F5-81D6-B163FBA2DD43}" type="datetimeFigureOut">
              <a:rPr lang="pt-BR" smtClean="0"/>
              <a:t>13/04/2026</a:t>
            </a:fld>
            <a:endParaRPr lang="pt-BR"/>
          </a:p>
        </p:txBody>
      </p:sp>
      <p:sp>
        <p:nvSpPr>
          <p:cNvPr id="5" name="Espaço Reservado para Rodapé 4">
            <a:extLst>
              <a:ext uri="{FF2B5EF4-FFF2-40B4-BE49-F238E27FC236}">
                <a16:creationId xmlns:a16="http://schemas.microsoft.com/office/drawing/2014/main" id="{FB5A0D02-F7D4-DB05-E338-0B36EA0FC8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578DF7D-5E3C-2AC2-7B25-52E7A9FB3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E081B1-B943-4470-AE1D-1A42BBAE8D98}" type="slidenum">
              <a:rPr lang="pt-BR" smtClean="0"/>
              <a:t>‹nº›</a:t>
            </a:fld>
            <a:endParaRPr lang="pt-BR"/>
          </a:p>
        </p:txBody>
      </p:sp>
    </p:spTree>
    <p:extLst>
      <p:ext uri="{BB962C8B-B14F-4D97-AF65-F5344CB8AC3E}">
        <p14:creationId xmlns:p14="http://schemas.microsoft.com/office/powerpoint/2010/main" val="22061968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54BFA47-6776-47CF-87D8-CBD80AC8ECD8}"/>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 visually striking scene depicting a seamless blend of classical and modern physics concepts: an antique mechanical clock, Newton’s apple, and a stylized spacetime grid with light bending around a planet. The composition should evoke a sense of scientific discovery and philosophical inquiry, with soft lighting and a premium aesthetic. No visible or implied text, letters, or words should appear anywhere in the image. The layout should allow for centered title overlay and convey the progression from classical to modern physics">
            <a:extLst>
              <a:ext uri="{FF2B5EF4-FFF2-40B4-BE49-F238E27FC236}">
                <a16:creationId xmlns:a16="http://schemas.microsoft.com/office/drawing/2014/main" id="{30AE48DD-1BE7-425E-8703-5AE78E573046}"/>
              </a:ext>
            </a:extLst>
          </p:cNvPr>
          <p:cNvPicPr>
            <a:picLocks noGrp="1" noChangeAspect="1"/>
          </p:cNvPicPr>
          <p:nvPr>
            <p:ph sz="half" idx="2"/>
          </p:nvPr>
        </p:nvPicPr>
        <p:blipFill>
          <a:blip r:embed="rId4"/>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A9E7B524-346F-4432-B44E-5CB94E6275BA}"/>
              </a:ext>
            </a:extLst>
          </p:cNvPr>
          <p:cNvSpPr txBox="1"/>
          <p:nvPr/>
        </p:nvSpPr>
        <p:spPr>
          <a:xfrm>
            <a:off x="619125" y="924966"/>
            <a:ext cx="4391025" cy="2011412"/>
          </a:xfrm>
          <a:prstGeom prst="rect">
            <a:avLst/>
          </a:prstGeom>
          <a:noFill/>
        </p:spPr>
        <p:txBody>
          <a:bodyPr lIns="91440" tIns="45720" rIns="91440" bIns="45720" rtlCol="0" anchor="t"/>
          <a:lstStyle/>
          <a:p>
            <a:r>
              <a:rPr lang="pt-BR" sz="4800" noProof="0" dirty="0">
                <a:solidFill>
                  <a:srgbClr val="000000"/>
                </a:solidFill>
                <a:latin typeface="Arial"/>
                <a:cs typeface="Arial"/>
              </a:rPr>
              <a:t>Conceitos de espaço</a:t>
            </a:r>
            <a:r>
              <a:rPr lang="pt-BR" sz="4800" b="0" noProof="0" dirty="0">
                <a:solidFill>
                  <a:srgbClr val="000000"/>
                </a:solidFill>
                <a:effectLst/>
                <a:latin typeface="Arial"/>
                <a:cs typeface="Arial"/>
              </a:rPr>
              <a:t>, </a:t>
            </a:r>
            <a:r>
              <a:rPr lang="pt-BR" sz="4800" noProof="0" dirty="0">
                <a:solidFill>
                  <a:srgbClr val="000000"/>
                </a:solidFill>
                <a:latin typeface="Arial"/>
                <a:cs typeface="Arial"/>
              </a:rPr>
              <a:t>tempo e movimento na Mecânica Clássica e na Teoria da Relatividade</a:t>
            </a:r>
            <a:endParaRPr lang="pt-BR" sz="4800" noProof="0" dirty="0">
              <a:latin typeface="Arial"/>
              <a:cs typeface="Arial"/>
            </a:endParaRPr>
          </a:p>
        </p:txBody>
      </p:sp>
    </p:spTree>
    <p:extLst>
      <p:ext uri="{BB962C8B-B14F-4D97-AF65-F5344CB8AC3E}">
        <p14:creationId xmlns:p14="http://schemas.microsoft.com/office/powerpoint/2010/main" val="3145449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994F2A2-7BF6-480E-87BB-9FEA81DA2003}"/>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a:extLst>
              <a:ext uri="{FF2B5EF4-FFF2-40B4-BE49-F238E27FC236}">
                <a16:creationId xmlns:a16="http://schemas.microsoft.com/office/drawing/2014/main" id="{66E379F1-1DAE-4EE6-9C08-93FB50DB24AC}"/>
              </a:ext>
            </a:extLst>
          </p:cNvPr>
          <p:cNvPicPr>
            <a:picLocks noGrp="1" noChangeAspect="1"/>
          </p:cNvPicPr>
          <p:nvPr>
            <p:ph sz="half" idx="2"/>
          </p:nvPr>
        </p:nvPicPr>
        <p:blipFill>
          <a:blip>
            <a:extLst>
              <a:ext uri="{96DAC541-7B7A-43D3-8B79-37D633B846F1}">
                <asvg:svgBlip xmlns:asvg="http://schemas.microsoft.com/office/drawing/2016/SVG/main" r:embed="rId4"/>
              </a:ext>
            </a:extLst>
          </a:blip>
          <a:stretch>
            <a:fillRect/>
          </a:stretch>
        </p:blipFill>
        <p:spPr>
          <a:xfrm>
            <a:off x="609356" y="2279970"/>
            <a:ext cx="10963031" cy="3221893"/>
          </a:xfrm>
          <a:prstGeom prst="rect">
            <a:avLst/>
          </a:prstGeom>
        </p:spPr>
      </p:pic>
      <p:sp>
        <p:nvSpPr>
          <p:cNvPr id="7" name="TextBox 6">
            <a:extLst>
              <a:ext uri="{FF2B5EF4-FFF2-40B4-BE49-F238E27FC236}">
                <a16:creationId xmlns:a16="http://schemas.microsoft.com/office/drawing/2014/main" id="{B870353A-34B2-428C-B4F4-5913840E905E}"/>
              </a:ext>
            </a:extLst>
          </p:cNvPr>
          <p:cNvSpPr txBox="1"/>
          <p:nvPr/>
        </p:nvSpPr>
        <p:spPr>
          <a:xfrm>
            <a:off x="619125" y="542925"/>
            <a:ext cx="10972800" cy="1020960"/>
          </a:xfrm>
          <a:prstGeom prst="rect">
            <a:avLst/>
          </a:prstGeom>
          <a:noFill/>
        </p:spPr>
        <p:txBody>
          <a:bodyPr lIns="91440" tIns="45720" rIns="91440" bIns="45720" rtlCol="0" anchor="t"/>
          <a:lstStyle/>
          <a:p>
            <a:r>
              <a:rPr lang="pt-BR" sz="4800" noProof="0" dirty="0">
                <a:solidFill>
                  <a:srgbClr val="000000"/>
                </a:solidFill>
                <a:latin typeface="Mongolian Baiti"/>
                <a:cs typeface="Mongolian Baiti"/>
              </a:rPr>
              <a:t>Detalhes do Artigo </a:t>
            </a:r>
            <a:r>
              <a:rPr lang="pt-BR" noProof="0" dirty="0">
                <a:solidFill>
                  <a:srgbClr val="D27B07"/>
                </a:solidFill>
                <a:latin typeface="Avenir"/>
              </a:rPr>
              <a:t> </a:t>
            </a:r>
          </a:p>
        </p:txBody>
      </p:sp>
      <p:sp>
        <p:nvSpPr>
          <p:cNvPr id="8" name="TextBox 7">
            <a:extLst>
              <a:ext uri="{FF2B5EF4-FFF2-40B4-BE49-F238E27FC236}">
                <a16:creationId xmlns:a16="http://schemas.microsoft.com/office/drawing/2014/main" id="{DC69FED5-75D1-455C-A3D5-E270FBE59598}"/>
              </a:ext>
            </a:extLst>
          </p:cNvPr>
          <p:cNvSpPr txBox="1"/>
          <p:nvPr/>
        </p:nvSpPr>
        <p:spPr>
          <a:xfrm>
            <a:off x="619125" y="2106810"/>
            <a:ext cx="10972800" cy="3503979"/>
          </a:xfrm>
          <a:prstGeom prst="rect">
            <a:avLst/>
          </a:prstGeom>
          <a:noFill/>
        </p:spPr>
        <p:txBody>
          <a:bodyPr lIns="91440" tIns="45720" rIns="91440" bIns="45720" rtlCol="0" anchor="t"/>
          <a:lstStyle/>
          <a:p>
            <a:pPr>
              <a:spcBef>
                <a:spcPts val="1950"/>
              </a:spcBef>
              <a:spcAft>
                <a:spcPts val="1650"/>
              </a:spcAft>
            </a:pPr>
            <a:r>
              <a:rPr lang="pt-BR" sz="2000" noProof="0" dirty="0">
                <a:solidFill>
                  <a:srgbClr val="000000"/>
                </a:solidFill>
                <a:latin typeface="Arial"/>
                <a:cs typeface="Arial"/>
              </a:rPr>
              <a:t>Autores:</a:t>
            </a:r>
            <a:r>
              <a:rPr lang="pt-BR" sz="2000" b="0" noProof="0" dirty="0">
                <a:solidFill>
                  <a:srgbClr val="000000"/>
                </a:solidFill>
                <a:effectLst/>
                <a:latin typeface="Arial"/>
                <a:cs typeface="Arial"/>
              </a:rPr>
              <a:t> </a:t>
            </a:r>
            <a:r>
              <a:rPr lang="pt-BR" sz="2000" noProof="0" dirty="0">
                <a:solidFill>
                  <a:srgbClr val="000000"/>
                </a:solidFill>
                <a:latin typeface="Arial"/>
                <a:cs typeface="Arial"/>
              </a:rPr>
              <a:t>Viviane B. Leite; Antônio V. Andrade-Neto </a:t>
            </a:r>
            <a:endParaRPr lang="pt-BR" sz="2000" noProof="0" dirty="0">
              <a:effectLst/>
              <a:latin typeface="Arial"/>
              <a:cs typeface="Arial"/>
            </a:endParaRPr>
          </a:p>
          <a:p>
            <a:pPr>
              <a:spcBef>
                <a:spcPts val="1650"/>
              </a:spcBef>
              <a:spcAft>
                <a:spcPts val="1650"/>
              </a:spcAft>
            </a:pPr>
            <a:r>
              <a:rPr lang="pt-BR" sz="2000" noProof="0" dirty="0">
                <a:solidFill>
                  <a:srgbClr val="000000"/>
                </a:solidFill>
                <a:latin typeface="Arial"/>
                <a:cs typeface="Arial"/>
              </a:rPr>
              <a:t>Fonte</a:t>
            </a:r>
            <a:r>
              <a:rPr lang="pt-BR" sz="2000" b="0" noProof="0" dirty="0">
                <a:solidFill>
                  <a:srgbClr val="000000"/>
                </a:solidFill>
                <a:effectLst/>
                <a:latin typeface="Arial"/>
                <a:cs typeface="Arial"/>
              </a:rPr>
              <a:t>: </a:t>
            </a:r>
            <a:r>
              <a:rPr lang="pt-BR" sz="2000" noProof="0" dirty="0">
                <a:solidFill>
                  <a:srgbClr val="000000"/>
                </a:solidFill>
                <a:latin typeface="Arial"/>
                <a:cs typeface="Arial"/>
              </a:rPr>
              <a:t>Revista Brasileira de Ensino de Física, vol. 45, e20220321 (2023)</a:t>
            </a:r>
          </a:p>
          <a:p>
            <a:pPr>
              <a:spcBef>
                <a:spcPts val="1650"/>
              </a:spcBef>
              <a:spcAft>
                <a:spcPts val="1650"/>
              </a:spcAft>
            </a:pPr>
            <a:r>
              <a:rPr lang="pt-BR" sz="2000" noProof="0" dirty="0">
                <a:solidFill>
                  <a:srgbClr val="000000"/>
                </a:solidFill>
                <a:latin typeface="Arial"/>
                <a:cs typeface="Arial"/>
              </a:rPr>
              <a:t>Instituição</a:t>
            </a:r>
            <a:r>
              <a:rPr lang="pt-BR" sz="2000" b="0" noProof="0" dirty="0">
                <a:solidFill>
                  <a:srgbClr val="000000"/>
                </a:solidFill>
                <a:effectLst/>
                <a:latin typeface="Arial"/>
                <a:cs typeface="Arial"/>
              </a:rPr>
              <a:t>: </a:t>
            </a:r>
            <a:r>
              <a:rPr lang="pt-BR" sz="2000" noProof="0" dirty="0">
                <a:solidFill>
                  <a:srgbClr val="000000"/>
                </a:solidFill>
                <a:latin typeface="Arial"/>
                <a:cs typeface="Arial"/>
              </a:rPr>
              <a:t>Universidade Estadual de Feira de Santana - BA</a:t>
            </a:r>
            <a:endParaRPr lang="pt-BR" sz="2000" noProof="0" dirty="0">
              <a:effectLst/>
              <a:latin typeface="Arial"/>
              <a:cs typeface="Arial"/>
            </a:endParaRPr>
          </a:p>
          <a:p>
            <a:pPr>
              <a:spcBef>
                <a:spcPts val="1650"/>
              </a:spcBef>
              <a:spcAft>
                <a:spcPts val="1650"/>
              </a:spcAft>
            </a:pPr>
            <a:r>
              <a:rPr lang="pt-BR" sz="2000" b="0" noProof="0" dirty="0">
                <a:solidFill>
                  <a:srgbClr val="000000"/>
                </a:solidFill>
                <a:effectLst/>
                <a:latin typeface="Arial"/>
                <a:cs typeface="Arial"/>
              </a:rPr>
              <a:t>DOI/URL: </a:t>
            </a:r>
            <a:r>
              <a:rPr lang="pt-BR" sz="2000" noProof="0" dirty="0">
                <a:solidFill>
                  <a:srgbClr val="000000"/>
                </a:solidFill>
                <a:latin typeface="Arial"/>
                <a:cs typeface="Arial"/>
              </a:rPr>
              <a:t>https://doi.org/10.1590/1806-9126-RBEF-2022-0321</a:t>
            </a:r>
          </a:p>
        </p:txBody>
      </p:sp>
    </p:spTree>
    <p:extLst>
      <p:ext uri="{BB962C8B-B14F-4D97-AF65-F5344CB8AC3E}">
        <p14:creationId xmlns:p14="http://schemas.microsoft.com/office/powerpoint/2010/main" val="2625224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F3DF1C-04A9-40EC-B336-9244A0AE5D50}"/>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5F8E4992-D1B7-509E-E5A7-E48544766B28}"/>
              </a:ext>
            </a:extLst>
          </p:cNvPr>
          <p:cNvSpPr>
            <a:spLocks noGrp="1"/>
          </p:cNvSpPr>
          <p:nvPr>
            <p:ph sz="half" idx="2"/>
          </p:nvPr>
        </p:nvSpPr>
        <p:spPr>
          <a:xfrm>
            <a:off x="619125" y="619125"/>
            <a:ext cx="12172950" cy="1039266"/>
          </a:xfrm>
        </p:spPr>
        <p:txBody>
          <a:bodyPr vert="horz" lIns="91440" tIns="45720" rIns="91440" bIns="45720" rtlCol="0" anchor="t">
            <a:normAutofit/>
          </a:bodyPr>
          <a:lstStyle/>
          <a:p>
            <a:pPr marL="0">
              <a:buNone/>
            </a:pPr>
            <a:r>
              <a:rPr lang="pt-BR" sz="4800" noProof="0" dirty="0">
                <a:solidFill>
                  <a:srgbClr val="000000"/>
                </a:solidFill>
                <a:latin typeface="Arial"/>
                <a:cs typeface="Arial"/>
              </a:rPr>
              <a:t>Introdução </a:t>
            </a:r>
            <a:r>
              <a:rPr lang="pt-BR" sz="4800" b="0" noProof="0" dirty="0">
                <a:solidFill>
                  <a:srgbClr val="000000"/>
                </a:solidFill>
                <a:effectLst/>
                <a:latin typeface="Arial"/>
                <a:cs typeface="Arial"/>
              </a:rPr>
              <a:t>&amp; </a:t>
            </a:r>
            <a:r>
              <a:rPr lang="pt-BR" sz="4800" noProof="0" dirty="0">
                <a:solidFill>
                  <a:srgbClr val="000000"/>
                </a:solidFill>
                <a:latin typeface="Arial"/>
                <a:cs typeface="Arial"/>
              </a:rPr>
              <a:t>Objetivos</a:t>
            </a:r>
            <a:r>
              <a:rPr lang="pt-BR" noProof="0" dirty="0">
                <a:solidFill>
                  <a:srgbClr val="000000"/>
                </a:solidFill>
                <a:latin typeface="Arial"/>
                <a:cs typeface="Arial"/>
              </a:rPr>
              <a:t> </a:t>
            </a:r>
            <a:endParaRPr lang="pt-BR" noProof="0" dirty="0">
              <a:latin typeface="Arial"/>
              <a:cs typeface="Arial"/>
            </a:endParaRPr>
          </a:p>
        </p:txBody>
      </p:sp>
      <p:sp>
        <p:nvSpPr>
          <p:cNvPr id="6" name="TextBox 5">
            <a:extLst>
              <a:ext uri="{FF2B5EF4-FFF2-40B4-BE49-F238E27FC236}">
                <a16:creationId xmlns:a16="http://schemas.microsoft.com/office/drawing/2014/main" id="{BFB4EC7E-FEE3-42F6-8355-0053DF8421F9}"/>
              </a:ext>
            </a:extLst>
          </p:cNvPr>
          <p:cNvSpPr txBox="1"/>
          <p:nvPr/>
        </p:nvSpPr>
        <p:spPr>
          <a:xfrm>
            <a:off x="619125" y="2181225"/>
            <a:ext cx="12172950" cy="2750343"/>
          </a:xfrm>
          <a:prstGeom prst="rect">
            <a:avLst/>
          </a:prstGeom>
          <a:noFill/>
        </p:spPr>
        <p:txBody>
          <a:bodyPr lIns="91440" tIns="45720" rIns="91440" bIns="45720" rtlCol="0" anchor="t"/>
          <a:lstStyle/>
          <a:p>
            <a:pPr>
              <a:buFont typeface="Arial"/>
              <a:buChar char="•"/>
            </a:pPr>
            <a:r>
              <a:rPr lang="pt-BR" sz="2000" noProof="0" dirty="0">
                <a:latin typeface="Arial"/>
                <a:ea typeface="+mn-lt"/>
                <a:cs typeface="Arial"/>
              </a:rPr>
              <a:t> Espaço, tempo e movimento discutidos desde Aristóteles</a:t>
            </a:r>
            <a:endParaRPr lang="pt-BR" sz="2000" noProof="0" dirty="0">
              <a:effectLst/>
              <a:latin typeface="Arial"/>
              <a:cs typeface="Arial"/>
            </a:endParaRPr>
          </a:p>
          <a:p>
            <a:pPr>
              <a:buFont typeface="Arial"/>
              <a:buChar char="•"/>
            </a:pPr>
            <a:endParaRPr lang="pt-BR" sz="2000" noProof="0" dirty="0">
              <a:latin typeface="Arial"/>
              <a:ea typeface="+mn-lt"/>
              <a:cs typeface="Arial"/>
            </a:endParaRPr>
          </a:p>
          <a:p>
            <a:pPr>
              <a:buFont typeface="Arial"/>
              <a:buChar char="•"/>
            </a:pPr>
            <a:r>
              <a:rPr lang="pt-BR" sz="2000" noProof="0" dirty="0">
                <a:latin typeface="Arial"/>
                <a:ea typeface="+mn-lt"/>
                <a:cs typeface="Arial"/>
              </a:rPr>
              <a:t> A mecânica clássica rompe com a visão teleológica antiga</a:t>
            </a:r>
            <a:endParaRPr lang="pt-BR" sz="2000" noProof="0" dirty="0">
              <a:latin typeface="Arial"/>
              <a:cs typeface="Arial"/>
            </a:endParaRPr>
          </a:p>
          <a:p>
            <a:pPr>
              <a:buFont typeface="Arial"/>
              <a:buChar char="•"/>
            </a:pPr>
            <a:endParaRPr lang="pt-BR" sz="2000" noProof="0" dirty="0">
              <a:latin typeface="Arial"/>
              <a:ea typeface="+mn-lt"/>
              <a:cs typeface="Arial"/>
            </a:endParaRPr>
          </a:p>
          <a:p>
            <a:pPr>
              <a:buFont typeface="Arial"/>
              <a:buChar char="•"/>
            </a:pPr>
            <a:r>
              <a:rPr lang="pt-BR" sz="2000" noProof="0" dirty="0">
                <a:latin typeface="Arial"/>
                <a:ea typeface="+mn-lt"/>
                <a:cs typeface="Arial"/>
              </a:rPr>
              <a:t> Traçar mudanças conceituais ao longo da história</a:t>
            </a:r>
            <a:endParaRPr lang="pt-BR" sz="2000" noProof="0" dirty="0">
              <a:latin typeface="Arial"/>
              <a:cs typeface="Arial"/>
            </a:endParaRPr>
          </a:p>
          <a:p>
            <a:pPr>
              <a:buFont typeface="Arial"/>
              <a:buChar char="•"/>
            </a:pPr>
            <a:endParaRPr lang="pt-BR" sz="2000" noProof="0" dirty="0">
              <a:latin typeface="Arial"/>
              <a:ea typeface="+mn-lt"/>
              <a:cs typeface="Arial"/>
            </a:endParaRPr>
          </a:p>
          <a:p>
            <a:pPr>
              <a:buFont typeface="Arial"/>
              <a:buChar char="•"/>
            </a:pPr>
            <a:r>
              <a:rPr lang="pt-BR" sz="2000" noProof="0" dirty="0">
                <a:latin typeface="Arial"/>
                <a:ea typeface="+mn-lt"/>
                <a:cs typeface="Arial"/>
              </a:rPr>
              <a:t> Mostrar como a física moderna reformulou esses conceitos</a:t>
            </a:r>
            <a:endParaRPr lang="pt-BR" sz="2000" noProof="0" dirty="0">
              <a:latin typeface="Arial"/>
              <a:cs typeface="Arial"/>
            </a:endParaRPr>
          </a:p>
          <a:p>
            <a:pPr marL="285750" indent="-285750">
              <a:buFont typeface="Arial"/>
              <a:buChar char="•"/>
            </a:pPr>
            <a:endParaRPr lang="pt-BR" noProof="0" dirty="0">
              <a:latin typeface="Avenir"/>
            </a:endParaRPr>
          </a:p>
        </p:txBody>
      </p:sp>
    </p:spTree>
    <p:extLst>
      <p:ext uri="{BB962C8B-B14F-4D97-AF65-F5344CB8AC3E}">
        <p14:creationId xmlns:p14="http://schemas.microsoft.com/office/powerpoint/2010/main" val="1154928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7C0329-BB9D-49B7-AE10-82AA43368CE2}"/>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 detailed illustration showing Aristotle in an ancient Greek setting, surrounded by scrolls and diagrams, with symbolic representations of place (a map), motion (arrows or moving figures), and time (an hourglass), all rendered in a classical style. The scene should convey intellectual depth and historical significance, with warm lighting and a scholarly atmosphere. No visible or implied text, letters, or words should appear anywhere in the image">
            <a:extLst>
              <a:ext uri="{FF2B5EF4-FFF2-40B4-BE49-F238E27FC236}">
                <a16:creationId xmlns:a16="http://schemas.microsoft.com/office/drawing/2014/main" id="{38BAC381-0E62-47E9-BA51-9F9800B2232B}"/>
              </a:ext>
            </a:extLst>
          </p:cNvPr>
          <p:cNvPicPr>
            <a:picLocks noGrp="1" noChangeAspect="1"/>
          </p:cNvPicPr>
          <p:nvPr>
            <p:ph sz="half" idx="2"/>
          </p:nvPr>
        </p:nvPicPr>
        <p:blipFill>
          <a:blip r:embed="rId4"/>
          <a:stretch>
            <a:fillRect/>
          </a:stretch>
        </p:blipFill>
        <p:spPr>
          <a:xfrm>
            <a:off x="6096000" y="0"/>
            <a:ext cx="6096000" cy="6858000"/>
          </a:xfrm>
          <a:prstGeom prst="rect">
            <a:avLst/>
          </a:prstGeom>
        </p:spPr>
      </p:pic>
      <p:sp>
        <p:nvSpPr>
          <p:cNvPr id="7" name="TextBox 6">
            <a:extLst>
              <a:ext uri="{FF2B5EF4-FFF2-40B4-BE49-F238E27FC236}">
                <a16:creationId xmlns:a16="http://schemas.microsoft.com/office/drawing/2014/main" id="{317ADC40-A978-487E-8A3E-ED1B3E714DE2}"/>
              </a:ext>
            </a:extLst>
          </p:cNvPr>
          <p:cNvSpPr txBox="1"/>
          <p:nvPr/>
        </p:nvSpPr>
        <p:spPr>
          <a:xfrm>
            <a:off x="269875" y="538692"/>
            <a:ext cx="5671608" cy="1450280"/>
          </a:xfrm>
          <a:prstGeom prst="rect">
            <a:avLst/>
          </a:prstGeom>
          <a:noFill/>
        </p:spPr>
        <p:txBody>
          <a:bodyPr lIns="91440" tIns="45720" rIns="91440" bIns="45720" rtlCol="0" anchor="t"/>
          <a:lstStyle/>
          <a:p>
            <a:r>
              <a:rPr lang="pt-BR" sz="4400" noProof="0" dirty="0">
                <a:solidFill>
                  <a:srgbClr val="000000"/>
                </a:solidFill>
                <a:latin typeface="Arial"/>
                <a:cs typeface="Arial"/>
              </a:rPr>
              <a:t>A Herança Aristotélica</a:t>
            </a:r>
            <a:r>
              <a:rPr lang="pt-BR" sz="4400" noProof="0" dirty="0">
                <a:effectLst/>
                <a:latin typeface="Arial"/>
                <a:cs typeface="Arial"/>
              </a:rPr>
              <a:t> </a:t>
            </a:r>
            <a:endParaRPr lang="pt-BR" sz="4400" noProof="0" dirty="0">
              <a:latin typeface="Arial"/>
              <a:cs typeface="Arial"/>
            </a:endParaRPr>
          </a:p>
        </p:txBody>
      </p:sp>
      <p:sp>
        <p:nvSpPr>
          <p:cNvPr id="2" name="CaixaDeTexto 1">
            <a:extLst>
              <a:ext uri="{FF2B5EF4-FFF2-40B4-BE49-F238E27FC236}">
                <a16:creationId xmlns:a16="http://schemas.microsoft.com/office/drawing/2014/main" id="{8C9B3F40-A3D5-3807-19AC-8E8CBC6E042B}"/>
              </a:ext>
            </a:extLst>
          </p:cNvPr>
          <p:cNvSpPr txBox="1"/>
          <p:nvPr/>
        </p:nvSpPr>
        <p:spPr>
          <a:xfrm>
            <a:off x="116417" y="1714499"/>
            <a:ext cx="5979584"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pt-BR" sz="2000" b="1" noProof="0" dirty="0">
                <a:latin typeface="Arial"/>
                <a:ea typeface="+mn-lt"/>
                <a:cs typeface="Arial"/>
              </a:rPr>
              <a:t>Lugar</a:t>
            </a:r>
            <a:r>
              <a:rPr lang="pt-BR" sz="2000" noProof="0" dirty="0">
                <a:latin typeface="Arial"/>
                <a:ea typeface="+mn-lt"/>
                <a:cs typeface="Arial"/>
              </a:rPr>
              <a:t>: </a:t>
            </a:r>
          </a:p>
          <a:p>
            <a:r>
              <a:rPr lang="pt-BR" sz="2000" noProof="0" dirty="0">
                <a:latin typeface="Arial"/>
                <a:ea typeface="+mn-lt"/>
                <a:cs typeface="Arial"/>
              </a:rPr>
              <a:t>O  “onde” de uma coisa — definido por seu limite e contexto, não por um recipiente vazio.</a:t>
            </a:r>
          </a:p>
          <a:p>
            <a:pPr marL="285750" indent="-285750">
              <a:buFont typeface="Arial"/>
              <a:buChar char="•"/>
            </a:pPr>
            <a:endParaRPr lang="pt-BR" sz="2000" b="1" noProof="0" dirty="0">
              <a:latin typeface="Arial"/>
              <a:ea typeface="+mn-lt"/>
              <a:cs typeface="Arial"/>
            </a:endParaRPr>
          </a:p>
          <a:p>
            <a:pPr marL="285750" indent="-285750">
              <a:buFont typeface="Arial"/>
              <a:buChar char="•"/>
            </a:pPr>
            <a:r>
              <a:rPr lang="pt-BR" sz="2000" b="1" noProof="0" dirty="0">
                <a:latin typeface="Arial"/>
                <a:ea typeface="+mn-lt"/>
                <a:cs typeface="Arial"/>
              </a:rPr>
              <a:t>Movimento</a:t>
            </a:r>
            <a:r>
              <a:rPr lang="pt-BR" sz="2000" noProof="0" dirty="0">
                <a:latin typeface="Arial"/>
                <a:ea typeface="+mn-lt"/>
                <a:cs typeface="Arial"/>
              </a:rPr>
              <a:t>: </a:t>
            </a:r>
          </a:p>
          <a:p>
            <a:r>
              <a:rPr lang="pt-BR" sz="2000" noProof="0" dirty="0">
                <a:latin typeface="Arial"/>
                <a:ea typeface="+mn-lt"/>
                <a:cs typeface="Arial"/>
              </a:rPr>
              <a:t>A mudança é orientada a fins e qualitativa, explicada por tendências naturais e propósitos.</a:t>
            </a:r>
          </a:p>
          <a:p>
            <a:pPr marL="285750" indent="-285750">
              <a:buFont typeface="Arial"/>
              <a:buChar char="•"/>
            </a:pPr>
            <a:endParaRPr lang="pt-BR" sz="2000" noProof="0" dirty="0">
              <a:latin typeface="Arial"/>
              <a:ea typeface="+mn-lt"/>
              <a:cs typeface="Arial"/>
            </a:endParaRPr>
          </a:p>
          <a:p>
            <a:pPr marL="285750" indent="-285750">
              <a:buFont typeface="Arial"/>
              <a:buChar char="•"/>
            </a:pPr>
            <a:r>
              <a:rPr lang="pt-BR" sz="2000" b="1" noProof="0" dirty="0">
                <a:latin typeface="Arial"/>
                <a:ea typeface="+mn-lt"/>
                <a:cs typeface="Arial"/>
              </a:rPr>
              <a:t>Tempo</a:t>
            </a:r>
            <a:r>
              <a:rPr lang="pt-BR" sz="2000" noProof="0" dirty="0">
                <a:latin typeface="Arial"/>
                <a:ea typeface="+mn-lt"/>
                <a:cs typeface="Arial"/>
              </a:rPr>
              <a:t>: </a:t>
            </a:r>
            <a:endParaRPr lang="pt-BR" noProof="0" dirty="0">
              <a:latin typeface="Arial"/>
              <a:ea typeface="+mn-lt"/>
              <a:cs typeface="Arial"/>
            </a:endParaRPr>
          </a:p>
          <a:p>
            <a:r>
              <a:rPr lang="pt-BR" sz="2000" noProof="0" dirty="0">
                <a:latin typeface="Arial"/>
                <a:ea typeface="+mn-lt"/>
                <a:cs typeface="Arial"/>
              </a:rPr>
              <a:t>Medido pela mudança; esse arcabouço moldou debates medievais e do início da modernidade sobre a natureza.</a:t>
            </a:r>
            <a:endParaRPr lang="pt-BR" noProof="0" dirty="0">
              <a:latin typeface="Arial"/>
              <a:cs typeface="Arial"/>
            </a:endParaRPr>
          </a:p>
          <a:p>
            <a:endParaRPr lang="pt-BR" sz="2000" noProof="0" dirty="0">
              <a:latin typeface="Avenir"/>
            </a:endParaRPr>
          </a:p>
          <a:p>
            <a:pPr algn="ctr"/>
            <a:endParaRPr lang="pt-BR" noProof="0" dirty="0"/>
          </a:p>
        </p:txBody>
      </p:sp>
    </p:spTree>
    <p:extLst>
      <p:ext uri="{BB962C8B-B14F-4D97-AF65-F5344CB8AC3E}">
        <p14:creationId xmlns:p14="http://schemas.microsoft.com/office/powerpoint/2010/main" val="921663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0B0296B-91CE-42CE-B86A-9678D3CF9AE4}"/>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 visually striking conceptual illustration showing two contrasting representations of space: on one side, a network of interconnected nodes and lines symbolizing relational space defined by objects; on the other side, a vast empty container with geometric boundaries, representing absolute space independent of objects. The lighting should emphasize the duality and philosophical nature of the topic. No visible or implied text, letters, or words should appear anywhere in the image">
            <a:extLst>
              <a:ext uri="{FF2B5EF4-FFF2-40B4-BE49-F238E27FC236}">
                <a16:creationId xmlns:a16="http://schemas.microsoft.com/office/drawing/2014/main" id="{94F50049-CB3F-408B-86B0-740EAB36B812}"/>
              </a:ext>
            </a:extLst>
          </p:cNvPr>
          <p:cNvPicPr>
            <a:picLocks noGrp="1" noChangeAspect="1"/>
          </p:cNvPicPr>
          <p:nvPr>
            <p:ph sz="half" idx="2"/>
          </p:nvPr>
        </p:nvPicPr>
        <p:blipFill>
          <a:blip r:embed="rId4"/>
          <a:stretch>
            <a:fillRect/>
          </a:stretch>
        </p:blipFill>
        <p:spPr>
          <a:xfrm>
            <a:off x="0" y="0"/>
            <a:ext cx="6487584" cy="6858000"/>
          </a:xfrm>
          <a:prstGeom prst="rect">
            <a:avLst/>
          </a:prstGeom>
        </p:spPr>
      </p:pic>
      <p:sp>
        <p:nvSpPr>
          <p:cNvPr id="7" name="TextBox 6">
            <a:extLst>
              <a:ext uri="{FF2B5EF4-FFF2-40B4-BE49-F238E27FC236}">
                <a16:creationId xmlns:a16="http://schemas.microsoft.com/office/drawing/2014/main" id="{0D3C8B7B-5739-495A-9203-20FE50B6243B}"/>
              </a:ext>
            </a:extLst>
          </p:cNvPr>
          <p:cNvSpPr txBox="1"/>
          <p:nvPr/>
        </p:nvSpPr>
        <p:spPr>
          <a:xfrm>
            <a:off x="8195734" y="570442"/>
            <a:ext cx="5290608" cy="1005780"/>
          </a:xfrm>
          <a:prstGeom prst="rect">
            <a:avLst/>
          </a:prstGeom>
          <a:noFill/>
        </p:spPr>
        <p:txBody>
          <a:bodyPr lIns="91440" tIns="45720" rIns="91440" bIns="45720" rtlCol="0" anchor="t"/>
          <a:lstStyle/>
          <a:p>
            <a:r>
              <a:rPr lang="pt-BR" sz="4400" noProof="0" dirty="0">
                <a:solidFill>
                  <a:srgbClr val="000000"/>
                </a:solidFill>
                <a:latin typeface="Arial"/>
                <a:cs typeface="Arial"/>
              </a:rPr>
              <a:t>Espaço</a:t>
            </a:r>
            <a:r>
              <a:rPr lang="pt-BR" sz="4400" noProof="0" dirty="0">
                <a:solidFill>
                  <a:srgbClr val="000000"/>
                </a:solidFill>
                <a:effectLst/>
                <a:latin typeface="Arial"/>
                <a:cs typeface="Arial"/>
              </a:rPr>
              <a:t> </a:t>
            </a:r>
            <a:endParaRPr lang="pt-BR" sz="4400" noProof="0" dirty="0">
              <a:latin typeface="Arial"/>
              <a:cs typeface="Arial"/>
            </a:endParaRPr>
          </a:p>
        </p:txBody>
      </p:sp>
      <p:sp>
        <p:nvSpPr>
          <p:cNvPr id="2" name="CaixaDeTexto 1">
            <a:extLst>
              <a:ext uri="{FF2B5EF4-FFF2-40B4-BE49-F238E27FC236}">
                <a16:creationId xmlns:a16="http://schemas.microsoft.com/office/drawing/2014/main" id="{810BAAAF-86C6-927B-3DD4-0D9464C3E649}"/>
              </a:ext>
            </a:extLst>
          </p:cNvPr>
          <p:cNvSpPr txBox="1"/>
          <p:nvPr/>
        </p:nvSpPr>
        <p:spPr>
          <a:xfrm>
            <a:off x="6572250" y="2000250"/>
            <a:ext cx="5323417"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pt-BR" sz="2000" b="1" noProof="0" dirty="0">
                <a:latin typeface="Arial"/>
                <a:cs typeface="Arial"/>
              </a:rPr>
              <a:t>Questão central: </a:t>
            </a:r>
          </a:p>
          <a:p>
            <a:r>
              <a:rPr lang="pt-BR" sz="2000" noProof="0" dirty="0">
                <a:latin typeface="Arial"/>
                <a:cs typeface="Arial"/>
              </a:rPr>
              <a:t>O espaço é definido pelas relações entre objetos, ou existe como um recipiente independente?</a:t>
            </a:r>
          </a:p>
          <a:p>
            <a:pPr marL="228600" indent="-228600">
              <a:buFont typeface=""/>
              <a:buChar char="•"/>
            </a:pPr>
            <a:endParaRPr lang="pt-BR" sz="2000" noProof="0" dirty="0">
              <a:latin typeface="Arial"/>
              <a:cs typeface="Arial"/>
            </a:endParaRPr>
          </a:p>
          <a:p>
            <a:pPr marL="228600" indent="-228600">
              <a:buFont typeface=""/>
              <a:buChar char="•"/>
            </a:pPr>
            <a:r>
              <a:rPr lang="pt-BR" sz="2000" b="1" noProof="0" dirty="0">
                <a:latin typeface="Arial"/>
                <a:cs typeface="Arial"/>
              </a:rPr>
              <a:t>Espaço relacional:</a:t>
            </a:r>
          </a:p>
          <a:p>
            <a:r>
              <a:rPr lang="pt-BR" sz="2000" noProof="0" dirty="0">
                <a:latin typeface="Arial"/>
                <a:ea typeface="+mn-lt"/>
                <a:cs typeface="Arial"/>
              </a:rPr>
              <a:t>Definido pelas distâncias e posições entre os objetos, existe apenas nas relações entre os corpos.</a:t>
            </a:r>
            <a:endParaRPr lang="pt-BR" sz="2000" noProof="0" dirty="0">
              <a:latin typeface="Arial"/>
              <a:cs typeface="Arial"/>
            </a:endParaRPr>
          </a:p>
          <a:p>
            <a:pPr marL="228600" indent="-228600">
              <a:buFont typeface=""/>
              <a:buChar char="•"/>
            </a:pPr>
            <a:endParaRPr lang="pt-BR" sz="2000" noProof="0" dirty="0">
              <a:latin typeface="Arial"/>
              <a:cs typeface="Arial"/>
            </a:endParaRPr>
          </a:p>
          <a:p>
            <a:pPr marL="228600" indent="-228600">
              <a:buFont typeface=""/>
              <a:buChar char="•"/>
            </a:pPr>
            <a:r>
              <a:rPr lang="pt-BR" sz="2000" b="1" noProof="0" dirty="0">
                <a:latin typeface="Arial"/>
                <a:cs typeface="Arial"/>
              </a:rPr>
              <a:t>Espaço absoluto: </a:t>
            </a:r>
          </a:p>
          <a:p>
            <a:r>
              <a:rPr lang="pt-BR" sz="2000" noProof="0" dirty="0">
                <a:latin typeface="Arial"/>
                <a:cs typeface="Arial"/>
              </a:rPr>
              <a:t>Estrutura fixa e imutável, mesmo que nenhum objeto o ocupe.</a:t>
            </a:r>
          </a:p>
          <a:p>
            <a:pPr algn="ctr"/>
            <a:endParaRPr lang="pt-BR" noProof="0" dirty="0"/>
          </a:p>
        </p:txBody>
      </p:sp>
    </p:spTree>
    <p:extLst>
      <p:ext uri="{BB962C8B-B14F-4D97-AF65-F5344CB8AC3E}">
        <p14:creationId xmlns:p14="http://schemas.microsoft.com/office/powerpoint/2010/main" val="1423844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E48D9F0-4D04-4955-B2E7-68D3A9E3D54D}"/>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 conceptual illustration showing a flowing river with distinct segments representing past, present, and future, set against an abstract background with interconnected geometric shapes symbolizing the complexity and directionality of time. The scene should evoke philosophical contemplation and scientific inquiry, with subtle lighting effects highlighting the transition between time segments. No visible or implied text, letters, or words should appear anywhere in the image">
            <a:extLst>
              <a:ext uri="{FF2B5EF4-FFF2-40B4-BE49-F238E27FC236}">
                <a16:creationId xmlns:a16="http://schemas.microsoft.com/office/drawing/2014/main" id="{04BAAADF-2C86-4C56-B611-90A7C58A1C07}"/>
              </a:ext>
            </a:extLst>
          </p:cNvPr>
          <p:cNvPicPr>
            <a:picLocks noGrp="1" noChangeAspect="1"/>
          </p:cNvPicPr>
          <p:nvPr>
            <p:ph sz="half" idx="2"/>
          </p:nvPr>
        </p:nvPicPr>
        <p:blipFill>
          <a:blip r:embed="rId4"/>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622978A6-14F8-4F92-A35E-4DBC4CEA548B}"/>
              </a:ext>
            </a:extLst>
          </p:cNvPr>
          <p:cNvSpPr txBox="1"/>
          <p:nvPr/>
        </p:nvSpPr>
        <p:spPr>
          <a:xfrm>
            <a:off x="1497542" y="432859"/>
            <a:ext cx="4877858" cy="502890"/>
          </a:xfrm>
          <a:prstGeom prst="rect">
            <a:avLst/>
          </a:prstGeom>
          <a:noFill/>
        </p:spPr>
        <p:txBody>
          <a:bodyPr lIns="91440" tIns="45720" rIns="91440" bIns="45720" rtlCol="0" anchor="t"/>
          <a:lstStyle/>
          <a:p>
            <a:r>
              <a:rPr lang="pt-BR" sz="4000" noProof="0" dirty="0">
                <a:solidFill>
                  <a:srgbClr val="000000"/>
                </a:solidFill>
                <a:latin typeface="Arial"/>
                <a:cs typeface="Arial"/>
              </a:rPr>
              <a:t> </a:t>
            </a:r>
            <a:r>
              <a:rPr lang="pt-BR" sz="4800" noProof="0" dirty="0">
                <a:solidFill>
                  <a:srgbClr val="000000"/>
                </a:solidFill>
                <a:latin typeface="Arial"/>
                <a:cs typeface="Arial"/>
              </a:rPr>
              <a:t>Tempo</a:t>
            </a:r>
            <a:r>
              <a:rPr lang="pt-BR" sz="4800" noProof="0" dirty="0">
                <a:effectLst/>
                <a:latin typeface="Arial"/>
                <a:cs typeface="Arial"/>
              </a:rPr>
              <a:t> </a:t>
            </a:r>
            <a:endParaRPr lang="pt-BR" sz="4800" noProof="0" dirty="0">
              <a:latin typeface="Arial"/>
              <a:cs typeface="Arial"/>
            </a:endParaRPr>
          </a:p>
        </p:txBody>
      </p:sp>
      <p:sp>
        <p:nvSpPr>
          <p:cNvPr id="2" name="CaixaDeTexto 1">
            <a:extLst>
              <a:ext uri="{FF2B5EF4-FFF2-40B4-BE49-F238E27FC236}">
                <a16:creationId xmlns:a16="http://schemas.microsoft.com/office/drawing/2014/main" id="{D6C5D2BC-4501-090F-DFC0-C2BC03153FCF}"/>
              </a:ext>
            </a:extLst>
          </p:cNvPr>
          <p:cNvSpPr txBox="1"/>
          <p:nvPr/>
        </p:nvSpPr>
        <p:spPr>
          <a:xfrm>
            <a:off x="138642" y="1608667"/>
            <a:ext cx="4877858" cy="40010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pt-BR" sz="2000" b="1" noProof="0" dirty="0">
                <a:latin typeface="Arial"/>
                <a:cs typeface="Arial"/>
              </a:rPr>
              <a:t>Direcionalidade: </a:t>
            </a:r>
          </a:p>
          <a:p>
            <a:r>
              <a:rPr lang="pt-BR" sz="2000" noProof="0" dirty="0">
                <a:latin typeface="Arial"/>
                <a:cs typeface="Arial"/>
              </a:rPr>
              <a:t>O tempo é ordenado do passado para o futuro, ou a direção é emergente de processos físicos como entropia e causalidade.</a:t>
            </a:r>
          </a:p>
          <a:p>
            <a:endParaRPr lang="pt-BR" sz="2000" noProof="0" dirty="0">
              <a:latin typeface="Arial"/>
              <a:cs typeface="Arial"/>
            </a:endParaRPr>
          </a:p>
          <a:p>
            <a:pPr marL="228600" indent="-228600">
              <a:buFont typeface=""/>
              <a:buChar char="•"/>
            </a:pPr>
            <a:r>
              <a:rPr lang="pt-BR" sz="2000" b="1" noProof="0" dirty="0">
                <a:latin typeface="Arial"/>
                <a:cs typeface="Arial"/>
              </a:rPr>
              <a:t>Independência em relação à matéria: </a:t>
            </a:r>
          </a:p>
          <a:p>
            <a:r>
              <a:rPr lang="pt-BR" sz="2000" noProof="0" dirty="0">
                <a:latin typeface="Arial"/>
                <a:cs typeface="Arial"/>
              </a:rPr>
              <a:t>O tempo existe ‘por si só’ ou apenas como estrutura que descreve mudança em fenômenos materiais.</a:t>
            </a:r>
          </a:p>
          <a:p>
            <a:endParaRPr lang="pt-BR" b="1" noProof="0" dirty="0">
              <a:latin typeface="Avenir"/>
            </a:endParaRPr>
          </a:p>
          <a:p>
            <a:endParaRPr lang="pt-BR" b="1" noProof="0" dirty="0">
              <a:latin typeface="Avenir"/>
            </a:endParaRPr>
          </a:p>
          <a:p>
            <a:pPr algn="ctr"/>
            <a:endParaRPr lang="pt-BR" noProof="0" dirty="0"/>
          </a:p>
        </p:txBody>
      </p:sp>
    </p:spTree>
    <p:extLst>
      <p:ext uri="{BB962C8B-B14F-4D97-AF65-F5344CB8AC3E}">
        <p14:creationId xmlns:p14="http://schemas.microsoft.com/office/powerpoint/2010/main" val="20893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373DC0F-101D-40D2-99C4-42ED00E6DEE2}"/>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74083" y="0"/>
            <a:ext cx="12192000" cy="6858000"/>
          </a:xfrm>
          <a:prstGeom prst="rect">
            <a:avLst/>
          </a:prstGeom>
        </p:spPr>
      </p:pic>
      <p:pic>
        <p:nvPicPr>
          <p:cNvPr id="6" name="Content Placeholder 5" descr="A detailed illustration showing Galileo observing a ship moving smoothly on calm water, with objects behaving identically inside the ship regardless of its motion, symbolizing inertial frames. The scene should convey a sense of scientific inquiry and classical mechanics, with soft natural lighting and a premium, educational aesthetic. No visible or implied text, letters, or words should appear anywhere in the image">
            <a:extLst>
              <a:ext uri="{FF2B5EF4-FFF2-40B4-BE49-F238E27FC236}">
                <a16:creationId xmlns:a16="http://schemas.microsoft.com/office/drawing/2014/main" id="{F8103A52-6F42-4A71-A53A-D3617D89BF0C}"/>
              </a:ext>
            </a:extLst>
          </p:cNvPr>
          <p:cNvPicPr>
            <a:picLocks noGrp="1" noChangeAspect="1"/>
          </p:cNvPicPr>
          <p:nvPr>
            <p:ph sz="half" idx="2"/>
          </p:nvPr>
        </p:nvPicPr>
        <p:blipFill>
          <a:blip r:embed="rId4"/>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73321036-B45A-4EB4-B80D-56359B7F609C}"/>
              </a:ext>
            </a:extLst>
          </p:cNvPr>
          <p:cNvSpPr txBox="1"/>
          <p:nvPr/>
        </p:nvSpPr>
        <p:spPr>
          <a:xfrm>
            <a:off x="7010401" y="909108"/>
            <a:ext cx="5258857" cy="1919882"/>
          </a:xfrm>
          <a:prstGeom prst="rect">
            <a:avLst/>
          </a:prstGeom>
          <a:noFill/>
        </p:spPr>
        <p:txBody>
          <a:bodyPr lIns="91440" tIns="45720" rIns="91440" bIns="45720" rtlCol="0" anchor="t"/>
          <a:lstStyle/>
          <a:p>
            <a:r>
              <a:rPr lang="pt-BR" sz="3600" b="1" noProof="0" dirty="0">
                <a:solidFill>
                  <a:srgbClr val="000000"/>
                </a:solidFill>
                <a:latin typeface="Arial"/>
                <a:cs typeface="Arial"/>
              </a:rPr>
              <a:t>Princípio da Relatividade de Galileu</a:t>
            </a:r>
            <a:r>
              <a:rPr lang="pt-BR" sz="3600" b="1" noProof="0" dirty="0">
                <a:solidFill>
                  <a:srgbClr val="000000"/>
                </a:solidFill>
                <a:effectLst/>
                <a:latin typeface="Arial"/>
                <a:cs typeface="Arial"/>
              </a:rPr>
              <a:t> (PRG) </a:t>
            </a:r>
            <a:endParaRPr lang="pt-BR" sz="3600" b="1" noProof="0" dirty="0">
              <a:latin typeface="Arial"/>
              <a:cs typeface="Arial"/>
            </a:endParaRPr>
          </a:p>
        </p:txBody>
      </p:sp>
      <p:sp>
        <p:nvSpPr>
          <p:cNvPr id="8" name="TextBox 7">
            <a:extLst>
              <a:ext uri="{FF2B5EF4-FFF2-40B4-BE49-F238E27FC236}">
                <a16:creationId xmlns:a16="http://schemas.microsoft.com/office/drawing/2014/main" id="{FE18745B-9A43-4BC0-87C5-21681661E888}"/>
              </a:ext>
            </a:extLst>
          </p:cNvPr>
          <p:cNvSpPr txBox="1"/>
          <p:nvPr/>
        </p:nvSpPr>
        <p:spPr>
          <a:xfrm>
            <a:off x="7095067" y="3154957"/>
            <a:ext cx="4496858" cy="3140686"/>
          </a:xfrm>
          <a:prstGeom prst="rect">
            <a:avLst/>
          </a:prstGeom>
          <a:noFill/>
        </p:spPr>
        <p:txBody>
          <a:bodyPr lIns="91440" tIns="45720" rIns="91440" bIns="45720" rtlCol="0" anchor="t"/>
          <a:lstStyle/>
          <a:p>
            <a:pPr marL="285750" indent="-285750">
              <a:buFont typeface="Arial"/>
              <a:buChar char="•"/>
            </a:pPr>
            <a:r>
              <a:rPr lang="pt-BR" sz="2000" noProof="0" dirty="0">
                <a:solidFill>
                  <a:srgbClr val="000000"/>
                </a:solidFill>
                <a:latin typeface="Arial"/>
                <a:ea typeface="+mn-lt"/>
                <a:cs typeface="Arial"/>
              </a:rPr>
              <a:t>Leis da mecânica idênticas em todos os referenciais inerciais</a:t>
            </a:r>
            <a:endParaRPr lang="pt-BR" sz="2000" noProof="0" dirty="0">
              <a:latin typeface="Arial"/>
              <a:ea typeface="+mn-lt"/>
              <a:cs typeface="Arial"/>
            </a:endParaRPr>
          </a:p>
          <a:p>
            <a:pPr marL="285750" indent="-285750">
              <a:buFont typeface="Arial"/>
              <a:buChar char="•"/>
            </a:pPr>
            <a:endParaRPr lang="pt-BR" sz="2000" noProof="0" dirty="0">
              <a:solidFill>
                <a:srgbClr val="000000"/>
              </a:solidFill>
              <a:latin typeface="Arial"/>
              <a:ea typeface="+mn-lt"/>
              <a:cs typeface="Arial"/>
            </a:endParaRPr>
          </a:p>
          <a:p>
            <a:pPr marL="285750" indent="-285750">
              <a:buFont typeface="Arial"/>
              <a:buChar char="•"/>
            </a:pPr>
            <a:r>
              <a:rPr lang="pt-BR" sz="2000" noProof="0" dirty="0">
                <a:solidFill>
                  <a:srgbClr val="000000"/>
                </a:solidFill>
                <a:latin typeface="Arial"/>
                <a:ea typeface="+mn-lt"/>
                <a:cs typeface="Arial"/>
              </a:rPr>
              <a:t>Movimento com velocidade constante não pode ser detectado internamente</a:t>
            </a:r>
            <a:endParaRPr lang="pt-BR" sz="2000" noProof="0" dirty="0">
              <a:latin typeface="Arial"/>
              <a:cs typeface="Arial"/>
            </a:endParaRPr>
          </a:p>
          <a:p>
            <a:endParaRPr lang="pt-BR" noProof="0" dirty="0">
              <a:latin typeface="Avenir"/>
            </a:endParaRPr>
          </a:p>
        </p:txBody>
      </p:sp>
    </p:spTree>
    <p:extLst>
      <p:ext uri="{BB962C8B-B14F-4D97-AF65-F5344CB8AC3E}">
        <p14:creationId xmlns:p14="http://schemas.microsoft.com/office/powerpoint/2010/main" val="4113076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FA1BA4A-E263-4466-BE82-B7860EFDF03F}"/>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 conceptual illustration of a vast, empty, three-dimensional grid extending infinitely in all directions, representing Newton's idea of absolute space as a fixed, unchanging framework. The scene should have a sense of depth and stillness, with subtle lighting to evoke a scientific and timeless atmosphere. No visible or implied text, letters, or words should appear anywhere in the image">
            <a:extLst>
              <a:ext uri="{FF2B5EF4-FFF2-40B4-BE49-F238E27FC236}">
                <a16:creationId xmlns:a16="http://schemas.microsoft.com/office/drawing/2014/main" id="{41EB2D32-5D3D-4A67-9067-A3F2E7C535CB}"/>
              </a:ext>
            </a:extLst>
          </p:cNvPr>
          <p:cNvPicPr>
            <a:picLocks noGrp="1" noChangeAspect="1"/>
          </p:cNvPicPr>
          <p:nvPr>
            <p:ph sz="half" idx="2"/>
          </p:nvPr>
        </p:nvPicPr>
        <p:blipFill>
          <a:blip r:embed="rId4"/>
          <a:stretch>
            <a:fillRect/>
          </a:stretch>
        </p:blipFill>
        <p:spPr>
          <a:xfrm>
            <a:off x="8165306" y="619125"/>
            <a:ext cx="3407419" cy="5638800"/>
          </a:xfrm>
          <a:prstGeom prst="rect">
            <a:avLst/>
          </a:prstGeom>
        </p:spPr>
      </p:pic>
      <p:sp>
        <p:nvSpPr>
          <p:cNvPr id="7" name="TextBox 6">
            <a:extLst>
              <a:ext uri="{FF2B5EF4-FFF2-40B4-BE49-F238E27FC236}">
                <a16:creationId xmlns:a16="http://schemas.microsoft.com/office/drawing/2014/main" id="{21580A5F-2C31-4C9B-A7BF-BC18F497E88E}"/>
              </a:ext>
            </a:extLst>
          </p:cNvPr>
          <p:cNvSpPr txBox="1"/>
          <p:nvPr/>
        </p:nvSpPr>
        <p:spPr>
          <a:xfrm>
            <a:off x="449792" y="1027642"/>
            <a:ext cx="6936581" cy="586680"/>
          </a:xfrm>
          <a:prstGeom prst="rect">
            <a:avLst/>
          </a:prstGeom>
          <a:noFill/>
        </p:spPr>
        <p:txBody>
          <a:bodyPr lIns="91440" tIns="45720" rIns="91440" bIns="45720" rtlCol="0" anchor="t"/>
          <a:lstStyle/>
          <a:p>
            <a:r>
              <a:rPr lang="pt-BR" sz="3200" b="1" noProof="0" dirty="0">
                <a:solidFill>
                  <a:srgbClr val="000000"/>
                </a:solidFill>
                <a:latin typeface="Arial"/>
                <a:ea typeface="+mn-lt"/>
                <a:cs typeface="Arial"/>
              </a:rPr>
              <a:t>Concepção de Espaço de </a:t>
            </a:r>
            <a:r>
              <a:rPr lang="pt-BR" sz="3200" b="1" noProof="0" dirty="0">
                <a:solidFill>
                  <a:srgbClr val="000000"/>
                </a:solidFill>
                <a:latin typeface="Arial"/>
                <a:cs typeface="Arial"/>
              </a:rPr>
              <a:t>Newton</a:t>
            </a:r>
            <a:r>
              <a:rPr lang="pt-BR" sz="3200" b="1" noProof="0" dirty="0">
                <a:solidFill>
                  <a:srgbClr val="000000"/>
                </a:solidFill>
                <a:effectLst/>
                <a:latin typeface="Arial"/>
                <a:cs typeface="Arial"/>
              </a:rPr>
              <a:t> </a:t>
            </a:r>
            <a:endParaRPr lang="pt-BR" sz="3200" b="1" noProof="0" dirty="0">
              <a:latin typeface="Arial"/>
              <a:cs typeface="Arial"/>
            </a:endParaRPr>
          </a:p>
        </p:txBody>
      </p:sp>
      <p:sp>
        <p:nvSpPr>
          <p:cNvPr id="8" name="TextBox 7">
            <a:extLst>
              <a:ext uri="{FF2B5EF4-FFF2-40B4-BE49-F238E27FC236}">
                <a16:creationId xmlns:a16="http://schemas.microsoft.com/office/drawing/2014/main" id="{A03748E8-6A5F-4C81-B165-87C8703E5946}"/>
              </a:ext>
            </a:extLst>
          </p:cNvPr>
          <p:cNvSpPr txBox="1"/>
          <p:nvPr/>
        </p:nvSpPr>
        <p:spPr>
          <a:xfrm>
            <a:off x="449794" y="1709571"/>
            <a:ext cx="6729940" cy="871554"/>
          </a:xfrm>
          <a:prstGeom prst="rect">
            <a:avLst/>
          </a:prstGeom>
          <a:noFill/>
        </p:spPr>
        <p:txBody>
          <a:bodyPr lIns="91440" tIns="45720" rIns="91440" bIns="45720" rtlCol="0" anchor="t"/>
          <a:lstStyle/>
          <a:p>
            <a:pPr marL="285750" indent="-285750">
              <a:spcBef>
                <a:spcPts val="2700"/>
              </a:spcBef>
              <a:buFont typeface="Arial"/>
              <a:buChar char="•"/>
            </a:pPr>
            <a:r>
              <a:rPr lang="pt-BR" sz="2000" noProof="0" dirty="0">
                <a:solidFill>
                  <a:srgbClr val="000000"/>
                </a:solidFill>
                <a:latin typeface="Arial"/>
                <a:cs typeface="Arial"/>
              </a:rPr>
              <a:t>Descreveu o espaço  como uma estrutura fixa e imutável,  independente dos objetos, em relação à qual o movimento é medido</a:t>
            </a:r>
            <a:r>
              <a:rPr lang="pt-BR" sz="2000" b="0" noProof="0" dirty="0">
                <a:solidFill>
                  <a:srgbClr val="000000"/>
                </a:solidFill>
                <a:effectLst/>
                <a:latin typeface="Arial"/>
                <a:cs typeface="Arial"/>
              </a:rPr>
              <a:t>.</a:t>
            </a:r>
            <a:r>
              <a:rPr lang="pt-BR" sz="2000" b="0" noProof="0" dirty="0">
                <a:solidFill>
                  <a:srgbClr val="000000"/>
                </a:solidFill>
                <a:effectLst/>
                <a:latin typeface="Avenir"/>
              </a:rPr>
              <a:t> </a:t>
            </a:r>
            <a:endParaRPr lang="pt-BR" sz="2000" noProof="0" dirty="0"/>
          </a:p>
        </p:txBody>
      </p:sp>
      <p:sp>
        <p:nvSpPr>
          <p:cNvPr id="2" name="CaixaDeTexto 1">
            <a:extLst>
              <a:ext uri="{FF2B5EF4-FFF2-40B4-BE49-F238E27FC236}">
                <a16:creationId xmlns:a16="http://schemas.microsoft.com/office/drawing/2014/main" id="{2108A315-6FF7-C0AB-9FDC-0603D3E3C4BE}"/>
              </a:ext>
            </a:extLst>
          </p:cNvPr>
          <p:cNvSpPr txBox="1"/>
          <p:nvPr/>
        </p:nvSpPr>
        <p:spPr>
          <a:xfrm>
            <a:off x="402166" y="3058583"/>
            <a:ext cx="946150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sz="3200" b="1" noProof="0" dirty="0">
                <a:latin typeface="Arial"/>
                <a:ea typeface="+mn-lt"/>
                <a:cs typeface="Arial"/>
              </a:rPr>
              <a:t>Concepção de </a:t>
            </a:r>
            <a:r>
              <a:rPr lang="pt-BR" sz="3200" b="1" baseline="0" noProof="0" dirty="0">
                <a:latin typeface="Arial"/>
                <a:ea typeface="+mn-lt"/>
                <a:cs typeface="Arial"/>
              </a:rPr>
              <a:t>Tempo</a:t>
            </a:r>
            <a:r>
              <a:rPr lang="pt-BR" sz="3200" b="1" noProof="0" dirty="0">
                <a:latin typeface="Arial"/>
                <a:ea typeface="+mn-lt"/>
                <a:cs typeface="Arial"/>
              </a:rPr>
              <a:t> de Newton:</a:t>
            </a:r>
            <a:endParaRPr lang="pt-BR" sz="3200" b="1" noProof="0" dirty="0">
              <a:latin typeface="Arial"/>
              <a:cs typeface="Arial"/>
            </a:endParaRPr>
          </a:p>
          <a:p>
            <a:pPr algn="ctr"/>
            <a:endParaRPr lang="pt-BR" noProof="0" dirty="0"/>
          </a:p>
        </p:txBody>
      </p:sp>
      <p:sp>
        <p:nvSpPr>
          <p:cNvPr id="3" name="CaixaDeTexto 2">
            <a:extLst>
              <a:ext uri="{FF2B5EF4-FFF2-40B4-BE49-F238E27FC236}">
                <a16:creationId xmlns:a16="http://schemas.microsoft.com/office/drawing/2014/main" id="{1069F6D2-4784-BCA9-918A-8329FD84F0B5}"/>
              </a:ext>
            </a:extLst>
          </p:cNvPr>
          <p:cNvSpPr txBox="1"/>
          <p:nvPr/>
        </p:nvSpPr>
        <p:spPr>
          <a:xfrm>
            <a:off x="402167" y="3799416"/>
            <a:ext cx="6777566"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pt-BR" sz="2000" baseline="0" noProof="0" dirty="0">
                <a:latin typeface="Arial"/>
                <a:cs typeface="Arial"/>
              </a:rPr>
              <a:t>Descreveu </a:t>
            </a:r>
            <a:r>
              <a:rPr lang="pt-BR" sz="2000" noProof="0" dirty="0">
                <a:latin typeface="Arial"/>
                <a:ea typeface="+mn-lt"/>
                <a:cs typeface="Arial"/>
              </a:rPr>
              <a:t>que o tempo flui uniformemente </a:t>
            </a:r>
            <a:r>
              <a:rPr lang="pt-BR" sz="2000" baseline="0" noProof="0" dirty="0">
                <a:latin typeface="Arial"/>
                <a:ea typeface="+mn-lt"/>
                <a:cs typeface="Arial"/>
              </a:rPr>
              <a:t>e </a:t>
            </a:r>
            <a:r>
              <a:rPr lang="pt-BR" sz="2000" noProof="0" dirty="0">
                <a:latin typeface="Arial"/>
                <a:ea typeface="+mn-lt"/>
                <a:cs typeface="Arial"/>
              </a:rPr>
              <a:t>independentemente </a:t>
            </a:r>
            <a:r>
              <a:rPr lang="pt-BR" sz="2000" baseline="0" noProof="0" dirty="0">
                <a:latin typeface="Arial"/>
                <a:ea typeface="+mn-lt"/>
                <a:cs typeface="Arial"/>
              </a:rPr>
              <a:t>dos </a:t>
            </a:r>
            <a:r>
              <a:rPr lang="pt-BR" sz="2000" noProof="0" dirty="0">
                <a:latin typeface="Arial"/>
                <a:ea typeface="+mn-lt"/>
                <a:cs typeface="Arial"/>
              </a:rPr>
              <a:t>eventos</a:t>
            </a:r>
            <a:r>
              <a:rPr lang="pt-BR" sz="2000" baseline="0" noProof="0" dirty="0">
                <a:latin typeface="Arial"/>
                <a:ea typeface="+mn-lt"/>
                <a:cs typeface="Arial"/>
              </a:rPr>
              <a:t>, </a:t>
            </a:r>
            <a:r>
              <a:rPr lang="pt-BR" sz="2000" noProof="0" dirty="0">
                <a:latin typeface="Arial"/>
                <a:ea typeface="+mn-lt"/>
                <a:cs typeface="Arial"/>
              </a:rPr>
              <a:t>fornecendo referência temporal para todo </a:t>
            </a:r>
            <a:r>
              <a:rPr lang="pt-BR" sz="2000" baseline="0" noProof="0" dirty="0">
                <a:latin typeface="Arial"/>
                <a:ea typeface="+mn-lt"/>
                <a:cs typeface="Arial"/>
              </a:rPr>
              <a:t>movimento</a:t>
            </a:r>
            <a:r>
              <a:rPr lang="pt-BR" sz="2000" noProof="0" dirty="0">
                <a:latin typeface="Arial"/>
                <a:ea typeface="+mn-lt"/>
                <a:cs typeface="Arial"/>
              </a:rPr>
              <a:t>.</a:t>
            </a:r>
          </a:p>
          <a:p>
            <a:pPr algn="ctr"/>
            <a:endParaRPr lang="pt-BR" noProof="0" dirty="0"/>
          </a:p>
        </p:txBody>
      </p:sp>
    </p:spTree>
    <p:extLst>
      <p:ext uri="{BB962C8B-B14F-4D97-AF65-F5344CB8AC3E}">
        <p14:creationId xmlns:p14="http://schemas.microsoft.com/office/powerpoint/2010/main" val="4076861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3EC87C3-A90E-44DC-B0EE-BA3BF60ABB47}"/>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7" name="Picture 6" descr="A detailed illustration showing two objects moving in space with arrows indicating their direction and speed, set against a cosmic background with stars and planets. The visual should evoke the concept of motion in a universal context, highlighting the distinction between absolute and relative movement. No visible or implied text, letters, or words should appear anywhere in the image. The composition should feel scientific and philosophical, emphasizing depth and clarity">
            <a:extLst>
              <a:ext uri="{FF2B5EF4-FFF2-40B4-BE49-F238E27FC236}">
                <a16:creationId xmlns:a16="http://schemas.microsoft.com/office/drawing/2014/main" id="{8CD773D5-448C-4044-98AD-F039A821780E}"/>
              </a:ext>
            </a:extLst>
          </p:cNvPr>
          <p:cNvPicPr>
            <a:picLocks noChangeAspect="1"/>
          </p:cNvPicPr>
          <p:nvPr/>
        </p:nvPicPr>
        <p:blipFill>
          <a:blip r:embed="rId4"/>
          <a:stretch>
            <a:fillRect/>
          </a:stretch>
        </p:blipFill>
        <p:spPr>
          <a:xfrm>
            <a:off x="7286889" y="-2984"/>
            <a:ext cx="4910252" cy="6855883"/>
          </a:xfrm>
          <a:prstGeom prst="rect">
            <a:avLst/>
          </a:prstGeom>
        </p:spPr>
      </p:pic>
      <p:sp>
        <p:nvSpPr>
          <p:cNvPr id="8" name="TextBox 7">
            <a:extLst>
              <a:ext uri="{FF2B5EF4-FFF2-40B4-BE49-F238E27FC236}">
                <a16:creationId xmlns:a16="http://schemas.microsoft.com/office/drawing/2014/main" id="{8DD50CB9-870E-46D8-89AD-0A95EF02C93C}"/>
              </a:ext>
            </a:extLst>
          </p:cNvPr>
          <p:cNvSpPr txBox="1"/>
          <p:nvPr/>
        </p:nvSpPr>
        <p:spPr>
          <a:xfrm>
            <a:off x="206375" y="815975"/>
            <a:ext cx="7084747" cy="1279921"/>
          </a:xfrm>
          <a:prstGeom prst="rect">
            <a:avLst/>
          </a:prstGeom>
          <a:noFill/>
        </p:spPr>
        <p:txBody>
          <a:bodyPr lIns="91440" tIns="45720" rIns="91440" bIns="45720" rtlCol="0" anchor="t"/>
          <a:lstStyle/>
          <a:p>
            <a:r>
              <a:rPr lang="pt-BR" sz="4800" b="1" noProof="0" dirty="0">
                <a:solidFill>
                  <a:srgbClr val="000000"/>
                </a:solidFill>
                <a:latin typeface="Arial"/>
                <a:cs typeface="Arial"/>
              </a:rPr>
              <a:t>Argumentos de Newton</a:t>
            </a:r>
            <a:endParaRPr lang="pt-BR" sz="4800" b="1" noProof="0" dirty="0">
              <a:latin typeface="Arial"/>
              <a:cs typeface="Arial"/>
            </a:endParaRPr>
          </a:p>
        </p:txBody>
      </p:sp>
      <p:sp>
        <p:nvSpPr>
          <p:cNvPr id="9" name="TextBox 8">
            <a:extLst>
              <a:ext uri="{FF2B5EF4-FFF2-40B4-BE49-F238E27FC236}">
                <a16:creationId xmlns:a16="http://schemas.microsoft.com/office/drawing/2014/main" id="{A91C9D54-5928-4A68-976D-AB4177E8A39E}"/>
              </a:ext>
            </a:extLst>
          </p:cNvPr>
          <p:cNvSpPr txBox="1"/>
          <p:nvPr/>
        </p:nvSpPr>
        <p:spPr>
          <a:xfrm>
            <a:off x="354542" y="2364713"/>
            <a:ext cx="6621991" cy="2901554"/>
          </a:xfrm>
          <a:prstGeom prst="rect">
            <a:avLst/>
          </a:prstGeom>
          <a:noFill/>
        </p:spPr>
        <p:txBody>
          <a:bodyPr lIns="91440" tIns="45720" rIns="91440" bIns="45720" rtlCol="0" anchor="t"/>
          <a:lstStyle/>
          <a:p>
            <a:r>
              <a:rPr lang="pt-BR" sz="1800" b="0" noProof="0" dirty="0">
                <a:solidFill>
                  <a:srgbClr val="000000"/>
                </a:solidFill>
                <a:effectLst/>
                <a:latin typeface="Arial"/>
                <a:cs typeface="Arial"/>
              </a:rPr>
              <a:t>•</a:t>
            </a:r>
            <a:r>
              <a:rPr lang="pt-BR" sz="2000" b="0" noProof="0" dirty="0">
                <a:solidFill>
                  <a:srgbClr val="000000"/>
                </a:solidFill>
                <a:effectLst/>
                <a:latin typeface="Arial"/>
                <a:cs typeface="Arial"/>
              </a:rPr>
              <a:t> </a:t>
            </a:r>
            <a:r>
              <a:rPr lang="pt-BR" sz="2000" noProof="0" dirty="0">
                <a:solidFill>
                  <a:srgbClr val="000000"/>
                </a:solidFill>
                <a:latin typeface="Arial"/>
                <a:cs typeface="Arial"/>
              </a:rPr>
              <a:t>Efeitos inerciais </a:t>
            </a:r>
            <a:r>
              <a:rPr lang="pt-BR" sz="2000" b="0" noProof="0" dirty="0">
                <a:solidFill>
                  <a:srgbClr val="000000"/>
                </a:solidFill>
                <a:effectLst/>
                <a:latin typeface="Arial"/>
                <a:cs typeface="Arial"/>
              </a:rPr>
              <a:t>(</a:t>
            </a:r>
            <a:r>
              <a:rPr lang="pt-BR" sz="2000" noProof="0" dirty="0">
                <a:solidFill>
                  <a:srgbClr val="000000"/>
                </a:solidFill>
                <a:latin typeface="Arial"/>
                <a:cs typeface="Arial"/>
              </a:rPr>
              <a:t>p</a:t>
            </a:r>
            <a:r>
              <a:rPr lang="pt-BR" sz="2000" b="0" noProof="0" dirty="0">
                <a:solidFill>
                  <a:srgbClr val="000000"/>
                </a:solidFill>
                <a:effectLst/>
                <a:latin typeface="Arial"/>
                <a:cs typeface="Arial"/>
              </a:rPr>
              <a:t>.</a:t>
            </a:r>
            <a:r>
              <a:rPr lang="pt-BR" sz="2000" noProof="0" dirty="0">
                <a:solidFill>
                  <a:srgbClr val="000000"/>
                </a:solidFill>
                <a:latin typeface="Arial"/>
                <a:cs typeface="Arial"/>
              </a:rPr>
              <a:t> ex</a:t>
            </a:r>
            <a:r>
              <a:rPr lang="pt-BR" sz="2000" b="0" noProof="0" dirty="0">
                <a:solidFill>
                  <a:srgbClr val="000000"/>
                </a:solidFill>
                <a:effectLst/>
                <a:latin typeface="Arial"/>
                <a:cs typeface="Arial"/>
              </a:rPr>
              <a:t>., </a:t>
            </a:r>
            <a:r>
              <a:rPr lang="pt-BR" sz="2000" noProof="0" dirty="0">
                <a:solidFill>
                  <a:srgbClr val="000000"/>
                </a:solidFill>
                <a:latin typeface="Arial"/>
                <a:cs typeface="Arial"/>
              </a:rPr>
              <a:t>rotação</a:t>
            </a:r>
            <a:r>
              <a:rPr lang="pt-BR" sz="2000" b="0" noProof="0" dirty="0">
                <a:solidFill>
                  <a:srgbClr val="000000"/>
                </a:solidFill>
                <a:effectLst/>
                <a:latin typeface="Arial"/>
                <a:cs typeface="Arial"/>
              </a:rPr>
              <a:t>) </a:t>
            </a:r>
            <a:r>
              <a:rPr lang="pt-BR" sz="2000" noProof="0" dirty="0">
                <a:solidFill>
                  <a:srgbClr val="000000"/>
                </a:solidFill>
                <a:latin typeface="Arial"/>
                <a:cs typeface="Arial"/>
              </a:rPr>
              <a:t>se manifestam sem referência a corpos próximos</a:t>
            </a:r>
            <a:r>
              <a:rPr lang="pt-BR" sz="2000" b="0" noProof="0" dirty="0">
                <a:solidFill>
                  <a:srgbClr val="000000"/>
                </a:solidFill>
                <a:effectLst/>
                <a:latin typeface="Arial"/>
                <a:cs typeface="Arial"/>
              </a:rPr>
              <a:t>. </a:t>
            </a:r>
            <a:endParaRPr lang="pt-BR" sz="2000" noProof="0" dirty="0">
              <a:effectLst/>
              <a:latin typeface="Arial"/>
              <a:cs typeface="Arial"/>
            </a:endParaRPr>
          </a:p>
          <a:p>
            <a:pPr>
              <a:spcBef>
                <a:spcPts val="1050"/>
              </a:spcBef>
            </a:pPr>
            <a:r>
              <a:rPr lang="pt-BR" sz="2000" b="0" noProof="0" dirty="0">
                <a:solidFill>
                  <a:srgbClr val="000000"/>
                </a:solidFill>
                <a:effectLst/>
                <a:latin typeface="Arial"/>
                <a:cs typeface="Arial"/>
              </a:rPr>
              <a:t>• </a:t>
            </a:r>
            <a:r>
              <a:rPr lang="pt-BR" sz="2000" noProof="0" dirty="0">
                <a:solidFill>
                  <a:srgbClr val="000000"/>
                </a:solidFill>
                <a:latin typeface="Arial"/>
                <a:cs typeface="Arial"/>
              </a:rPr>
              <a:t>Um referencial privilegiado explica por que alguns movimentos requerem forças, enquanto o movimento uniforme não requer</a:t>
            </a:r>
            <a:r>
              <a:rPr lang="pt-BR" sz="2000" b="0" noProof="0" dirty="0">
                <a:solidFill>
                  <a:srgbClr val="000000"/>
                </a:solidFill>
                <a:effectLst/>
                <a:latin typeface="Arial"/>
                <a:cs typeface="Arial"/>
              </a:rPr>
              <a:t>. </a:t>
            </a:r>
            <a:endParaRPr lang="pt-BR" sz="2000" noProof="0" dirty="0">
              <a:effectLst/>
              <a:latin typeface="Arial"/>
              <a:cs typeface="Arial"/>
            </a:endParaRPr>
          </a:p>
          <a:p>
            <a:pPr>
              <a:spcBef>
                <a:spcPts val="1050"/>
              </a:spcBef>
            </a:pPr>
            <a:r>
              <a:rPr lang="pt-BR" sz="2000" b="0" noProof="0" dirty="0">
                <a:solidFill>
                  <a:srgbClr val="000000"/>
                </a:solidFill>
                <a:effectLst/>
                <a:latin typeface="Arial"/>
                <a:cs typeface="Arial"/>
              </a:rPr>
              <a:t>• </a:t>
            </a:r>
            <a:r>
              <a:rPr lang="pt-BR" sz="2000" noProof="0" dirty="0">
                <a:solidFill>
                  <a:srgbClr val="000000"/>
                </a:solidFill>
                <a:latin typeface="Arial"/>
                <a:cs typeface="Arial"/>
              </a:rPr>
              <a:t>Simetrias e leis assumem a forma mais simples quando definidas em relação a um padrão absoluto de repouso</a:t>
            </a:r>
            <a:r>
              <a:rPr lang="pt-BR" sz="2000" b="0" noProof="0" dirty="0">
                <a:solidFill>
                  <a:srgbClr val="000000"/>
                </a:solidFill>
                <a:effectLst/>
                <a:latin typeface="Arial"/>
                <a:cs typeface="Arial"/>
              </a:rPr>
              <a:t>. </a:t>
            </a:r>
            <a:endParaRPr lang="pt-BR" sz="2000" noProof="0" dirty="0">
              <a:latin typeface="Arial"/>
              <a:cs typeface="Arial"/>
            </a:endParaRPr>
          </a:p>
        </p:txBody>
      </p:sp>
    </p:spTree>
    <p:extLst>
      <p:ext uri="{BB962C8B-B14F-4D97-AF65-F5344CB8AC3E}">
        <p14:creationId xmlns:p14="http://schemas.microsoft.com/office/powerpoint/2010/main" val="623967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C212470-4AC3-4F86-A2D6-FBCC45997349}"/>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 visually striking depiction of a warped grid representing space-time, with a moving object (such as a spacecraft or light beam) creating a distortion in the grid. The background should feature cosmic elements like stars and subtle color gradients to evoke the concept of relativity and interconnected space and time. No visible or implied text, letters, or words should appear anywhere in the image. The composition should convey a sense of scientific discovery and abstract physics">
            <a:extLst>
              <a:ext uri="{FF2B5EF4-FFF2-40B4-BE49-F238E27FC236}">
                <a16:creationId xmlns:a16="http://schemas.microsoft.com/office/drawing/2014/main" id="{230B63B2-2351-4E68-8163-7837576C1287}"/>
              </a:ext>
            </a:extLst>
          </p:cNvPr>
          <p:cNvPicPr>
            <a:picLocks noGrp="1" noChangeAspect="1"/>
          </p:cNvPicPr>
          <p:nvPr>
            <p:ph sz="half" idx="2"/>
          </p:nvPr>
        </p:nvPicPr>
        <p:blipFill>
          <a:blip r:embed="rId4"/>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C5FD737A-0C14-4A2E-AE7E-89A1FD2F3B2B}"/>
              </a:ext>
            </a:extLst>
          </p:cNvPr>
          <p:cNvSpPr txBox="1"/>
          <p:nvPr/>
        </p:nvSpPr>
        <p:spPr>
          <a:xfrm>
            <a:off x="7200900" y="581025"/>
            <a:ext cx="4824941" cy="1005780"/>
          </a:xfrm>
          <a:prstGeom prst="rect">
            <a:avLst/>
          </a:prstGeom>
          <a:noFill/>
        </p:spPr>
        <p:txBody>
          <a:bodyPr lIns="91440" tIns="45720" rIns="91440" bIns="45720" rtlCol="0" anchor="t"/>
          <a:lstStyle/>
          <a:p>
            <a:r>
              <a:rPr lang="pt-BR" sz="3200" b="1" noProof="0" dirty="0">
                <a:solidFill>
                  <a:srgbClr val="000000"/>
                </a:solidFill>
                <a:latin typeface="Arial"/>
                <a:cs typeface="Arial"/>
              </a:rPr>
              <a:t>Teoria da Relatividade Restrita ou Teoria da Relatividade Especial</a:t>
            </a:r>
            <a:endParaRPr lang="pt-BR" sz="3200" b="1" noProof="0" dirty="0">
              <a:latin typeface="Arial"/>
              <a:cs typeface="Arial"/>
            </a:endParaRPr>
          </a:p>
        </p:txBody>
      </p:sp>
      <p:sp>
        <p:nvSpPr>
          <p:cNvPr id="2" name="CaixaDeTexto 1">
            <a:extLst>
              <a:ext uri="{FF2B5EF4-FFF2-40B4-BE49-F238E27FC236}">
                <a16:creationId xmlns:a16="http://schemas.microsoft.com/office/drawing/2014/main" id="{1D13260E-7E6F-B631-717C-827912A3463D}"/>
              </a:ext>
            </a:extLst>
          </p:cNvPr>
          <p:cNvSpPr txBox="1"/>
          <p:nvPr/>
        </p:nvSpPr>
        <p:spPr>
          <a:xfrm>
            <a:off x="6858000" y="2614083"/>
            <a:ext cx="5164667" cy="37548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pt-BR" sz="2000" noProof="0" dirty="0">
                <a:latin typeface="Arial"/>
                <a:cs typeface="Arial"/>
              </a:rPr>
              <a:t>Espaço e tempo formam um único tecido.</a:t>
            </a:r>
          </a:p>
          <a:p>
            <a:pPr marL="228600" indent="-228600">
              <a:buFont typeface=""/>
              <a:buChar char="•"/>
            </a:pPr>
            <a:endParaRPr lang="pt-BR" sz="2000" noProof="0" dirty="0">
              <a:latin typeface="Arial"/>
              <a:cs typeface="Arial"/>
            </a:endParaRPr>
          </a:p>
          <a:p>
            <a:pPr marL="228600" indent="-228600">
              <a:buFont typeface=""/>
              <a:buChar char="•"/>
            </a:pPr>
            <a:r>
              <a:rPr lang="pt-BR" sz="2000" noProof="0" dirty="0">
                <a:latin typeface="Arial"/>
                <a:cs typeface="Arial"/>
              </a:rPr>
              <a:t>Medidas dependem do movimento do observador.</a:t>
            </a:r>
          </a:p>
          <a:p>
            <a:pPr marL="228600" indent="-228600">
              <a:buFont typeface=""/>
              <a:buChar char="•"/>
            </a:pPr>
            <a:endParaRPr lang="pt-BR" sz="2000" noProof="0" dirty="0">
              <a:latin typeface="Arial"/>
              <a:cs typeface="Arial"/>
            </a:endParaRPr>
          </a:p>
          <a:p>
            <a:pPr marL="228600" indent="-228600">
              <a:buFont typeface=""/>
              <a:buChar char="•"/>
            </a:pPr>
            <a:r>
              <a:rPr lang="pt-BR" sz="2000" noProof="0" dirty="0">
                <a:latin typeface="Arial"/>
                <a:cs typeface="Arial"/>
              </a:rPr>
              <a:t>Dilatação do tempo e contração do comprimento mantêm a velocidade da luz constante.</a:t>
            </a:r>
          </a:p>
          <a:p>
            <a:pPr marL="228600" indent="-228600">
              <a:buFont typeface=""/>
              <a:buChar char="•"/>
            </a:pPr>
            <a:endParaRPr lang="pt-BR" sz="2000" noProof="0" dirty="0">
              <a:latin typeface="Arial"/>
              <a:cs typeface="Arial"/>
            </a:endParaRPr>
          </a:p>
          <a:p>
            <a:pPr marL="228600" indent="-228600">
              <a:buFont typeface=""/>
              <a:buChar char="•"/>
            </a:pPr>
            <a:r>
              <a:rPr lang="pt-BR" sz="2000" noProof="0" dirty="0">
                <a:latin typeface="Arial"/>
                <a:cs typeface="Arial"/>
              </a:rPr>
              <a:t>Transforma como comparamos eventos e sincronizamos relógios.</a:t>
            </a:r>
          </a:p>
          <a:p>
            <a:pPr algn="ctr"/>
            <a:endParaRPr lang="pt-BR" noProof="0" dirty="0"/>
          </a:p>
        </p:txBody>
      </p:sp>
    </p:spTree>
    <p:extLst>
      <p:ext uri="{BB962C8B-B14F-4D97-AF65-F5344CB8AC3E}">
        <p14:creationId xmlns:p14="http://schemas.microsoft.com/office/powerpoint/2010/main" val="16742130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658BF8A-CC8D-436C-9F57-DA9EFAE56180}"/>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 detailed 3D visualization of a four-dimensional Minkowski space-time diagram, showing intersecting axes labeled as time and three spatial dimensions, with a light cone structure at the origin to illustrate causality. The scene should have a sleek, modern scientific aesthetic with subtle gradients and depth, but no visible or implied text, letters, or words anywhere in the image">
            <a:extLst>
              <a:ext uri="{FF2B5EF4-FFF2-40B4-BE49-F238E27FC236}">
                <a16:creationId xmlns:a16="http://schemas.microsoft.com/office/drawing/2014/main" id="{63B6BC22-E5B2-47C9-8F29-A96C58F5B57E}"/>
              </a:ext>
            </a:extLst>
          </p:cNvPr>
          <p:cNvPicPr>
            <a:picLocks noGrp="1" noChangeAspect="1"/>
          </p:cNvPicPr>
          <p:nvPr>
            <p:ph sz="half" idx="2"/>
          </p:nvPr>
        </p:nvPicPr>
        <p:blipFill>
          <a:blip r:embed="rId4"/>
          <a:stretch>
            <a:fillRect/>
          </a:stretch>
        </p:blipFill>
        <p:spPr>
          <a:xfrm>
            <a:off x="0" y="0"/>
            <a:ext cx="6858000" cy="6858000"/>
          </a:xfrm>
          <a:prstGeom prst="rect">
            <a:avLst/>
          </a:prstGeom>
        </p:spPr>
      </p:pic>
      <p:sp>
        <p:nvSpPr>
          <p:cNvPr id="7" name="TextBox 6">
            <a:extLst>
              <a:ext uri="{FF2B5EF4-FFF2-40B4-BE49-F238E27FC236}">
                <a16:creationId xmlns:a16="http://schemas.microsoft.com/office/drawing/2014/main" id="{792A9F3F-3473-46F4-ABFC-84000BA02E79}"/>
              </a:ext>
            </a:extLst>
          </p:cNvPr>
          <p:cNvSpPr txBox="1"/>
          <p:nvPr/>
        </p:nvSpPr>
        <p:spPr>
          <a:xfrm>
            <a:off x="7327900" y="231775"/>
            <a:ext cx="4391025" cy="1279921"/>
          </a:xfrm>
          <a:prstGeom prst="rect">
            <a:avLst/>
          </a:prstGeom>
          <a:noFill/>
        </p:spPr>
        <p:txBody>
          <a:bodyPr lIns="91440" tIns="45720" rIns="91440" bIns="45720" rtlCol="0" anchor="t"/>
          <a:lstStyle/>
          <a:p>
            <a:r>
              <a:rPr lang="pt-BR" sz="4800" noProof="0" dirty="0">
                <a:solidFill>
                  <a:srgbClr val="000000"/>
                </a:solidFill>
                <a:latin typeface="Arial"/>
                <a:cs typeface="Arial"/>
              </a:rPr>
              <a:t>Espaço-tempo de </a:t>
            </a:r>
            <a:r>
              <a:rPr lang="pt-BR" sz="4800" noProof="0" dirty="0">
                <a:solidFill>
                  <a:srgbClr val="000000"/>
                </a:solidFill>
                <a:effectLst/>
                <a:latin typeface="Arial"/>
                <a:cs typeface="Arial"/>
              </a:rPr>
              <a:t>Minkowski</a:t>
            </a:r>
            <a:r>
              <a:rPr lang="pt-BR" noProof="0" dirty="0">
                <a:effectLst/>
                <a:latin typeface="Arial"/>
                <a:cs typeface="Arial"/>
              </a:rPr>
              <a:t> </a:t>
            </a:r>
            <a:endParaRPr lang="pt-BR" noProof="0" dirty="0">
              <a:latin typeface="Arial"/>
              <a:cs typeface="Arial"/>
            </a:endParaRPr>
          </a:p>
        </p:txBody>
      </p:sp>
      <p:sp>
        <p:nvSpPr>
          <p:cNvPr id="8" name="TextBox 7">
            <a:extLst>
              <a:ext uri="{FF2B5EF4-FFF2-40B4-BE49-F238E27FC236}">
                <a16:creationId xmlns:a16="http://schemas.microsoft.com/office/drawing/2014/main" id="{19EC046C-0A3B-4589-95ED-8097F857D213}"/>
              </a:ext>
            </a:extLst>
          </p:cNvPr>
          <p:cNvSpPr txBox="1"/>
          <p:nvPr/>
        </p:nvSpPr>
        <p:spPr>
          <a:xfrm>
            <a:off x="7200900" y="2127646"/>
            <a:ext cx="4391025" cy="285750"/>
          </a:xfrm>
          <a:prstGeom prst="rect">
            <a:avLst/>
          </a:prstGeom>
          <a:noFill/>
        </p:spPr>
        <p:txBody>
          <a:bodyPr lIns="91440" tIns="45720" rIns="91440" bIns="45720" rtlCol="0" anchor="t"/>
          <a:lstStyle/>
          <a:p>
            <a:r>
              <a:rPr lang="pt-BR" b="1" noProof="0" dirty="0">
                <a:solidFill>
                  <a:srgbClr val="000000"/>
                </a:solidFill>
                <a:latin typeface="Arial"/>
                <a:cs typeface="Arial"/>
              </a:rPr>
              <a:t>Fundamento geométrico</a:t>
            </a:r>
            <a:r>
              <a:rPr lang="pt-BR" b="1" noProof="0" dirty="0">
                <a:latin typeface="Arial"/>
                <a:cs typeface="Arial"/>
              </a:rPr>
              <a:t> :</a:t>
            </a:r>
            <a:endParaRPr lang="pt-BR" noProof="0" dirty="0">
              <a:latin typeface="Arial"/>
              <a:cs typeface="Arial"/>
            </a:endParaRPr>
          </a:p>
        </p:txBody>
      </p:sp>
      <p:sp>
        <p:nvSpPr>
          <p:cNvPr id="9" name="TextBox 8">
            <a:extLst>
              <a:ext uri="{FF2B5EF4-FFF2-40B4-BE49-F238E27FC236}">
                <a16:creationId xmlns:a16="http://schemas.microsoft.com/office/drawing/2014/main" id="{8999C8BE-F724-4765-B048-34933190609F}"/>
              </a:ext>
            </a:extLst>
          </p:cNvPr>
          <p:cNvSpPr txBox="1"/>
          <p:nvPr/>
        </p:nvSpPr>
        <p:spPr>
          <a:xfrm>
            <a:off x="7200900" y="2572146"/>
            <a:ext cx="4391025" cy="857250"/>
          </a:xfrm>
          <a:prstGeom prst="rect">
            <a:avLst/>
          </a:prstGeom>
          <a:noFill/>
        </p:spPr>
        <p:txBody>
          <a:bodyPr lIns="91440" tIns="45720" rIns="91440" bIns="45720" rtlCol="0" anchor="t"/>
          <a:lstStyle/>
          <a:p>
            <a:pPr marL="285750" indent="-285750">
              <a:spcBef>
                <a:spcPts val="750"/>
              </a:spcBef>
              <a:buFont typeface="Arial"/>
              <a:buChar char="•"/>
            </a:pPr>
            <a:r>
              <a:rPr lang="pt-BR" noProof="0" dirty="0">
                <a:latin typeface="Arial"/>
                <a:ea typeface="+mn-lt"/>
                <a:cs typeface="Arial"/>
              </a:rPr>
              <a:t>relatividade especial torna-se geometria em </a:t>
            </a:r>
            <a:r>
              <a:rPr lang="pt-BR" sz="1800" b="0" noProof="0" dirty="0">
                <a:effectLst/>
                <a:latin typeface="Arial"/>
                <a:ea typeface="+mn-lt"/>
                <a:cs typeface="Arial"/>
              </a:rPr>
              <a:t>4D</a:t>
            </a:r>
            <a:endParaRPr lang="pt-BR" noProof="0" dirty="0"/>
          </a:p>
        </p:txBody>
      </p:sp>
      <p:sp>
        <p:nvSpPr>
          <p:cNvPr id="10" name="TextBox 9">
            <a:extLst>
              <a:ext uri="{FF2B5EF4-FFF2-40B4-BE49-F238E27FC236}">
                <a16:creationId xmlns:a16="http://schemas.microsoft.com/office/drawing/2014/main" id="{DD7E50B1-A7C7-46E6-BCDA-1C388308E634}"/>
              </a:ext>
            </a:extLst>
          </p:cNvPr>
          <p:cNvSpPr txBox="1"/>
          <p:nvPr/>
        </p:nvSpPr>
        <p:spPr>
          <a:xfrm>
            <a:off x="7200900" y="3431513"/>
            <a:ext cx="4391025" cy="285750"/>
          </a:xfrm>
          <a:prstGeom prst="rect">
            <a:avLst/>
          </a:prstGeom>
          <a:noFill/>
        </p:spPr>
        <p:txBody>
          <a:bodyPr lIns="91440" tIns="45720" rIns="91440" bIns="45720" rtlCol="0" anchor="t"/>
          <a:lstStyle/>
          <a:p>
            <a:pPr>
              <a:spcBef>
                <a:spcPts val="1350"/>
              </a:spcBef>
            </a:pPr>
            <a:r>
              <a:rPr lang="pt-BR" b="1" noProof="0" dirty="0">
                <a:solidFill>
                  <a:srgbClr val="000000"/>
                </a:solidFill>
                <a:latin typeface="Arial"/>
                <a:cs typeface="Arial"/>
              </a:rPr>
              <a:t>Intervalo invariante</a:t>
            </a:r>
            <a:r>
              <a:rPr lang="pt-BR" b="1" noProof="0" dirty="0">
                <a:latin typeface="Arial"/>
                <a:cs typeface="Arial"/>
              </a:rPr>
              <a:t> :</a:t>
            </a:r>
            <a:r>
              <a:rPr lang="pt-BR" noProof="0" dirty="0">
                <a:latin typeface="Arial"/>
                <a:cs typeface="Arial"/>
              </a:rPr>
              <a:t> </a:t>
            </a:r>
          </a:p>
        </p:txBody>
      </p:sp>
      <p:sp>
        <p:nvSpPr>
          <p:cNvPr id="11" name="TextBox 10">
            <a:extLst>
              <a:ext uri="{FF2B5EF4-FFF2-40B4-BE49-F238E27FC236}">
                <a16:creationId xmlns:a16="http://schemas.microsoft.com/office/drawing/2014/main" id="{6F7F1C74-8E9C-4F42-A183-FDDA93735C7B}"/>
              </a:ext>
            </a:extLst>
          </p:cNvPr>
          <p:cNvSpPr txBox="1"/>
          <p:nvPr/>
        </p:nvSpPr>
        <p:spPr>
          <a:xfrm>
            <a:off x="7200900" y="3801929"/>
            <a:ext cx="4391025" cy="857250"/>
          </a:xfrm>
          <a:prstGeom prst="rect">
            <a:avLst/>
          </a:prstGeom>
          <a:noFill/>
        </p:spPr>
        <p:txBody>
          <a:bodyPr lIns="91440" tIns="45720" rIns="91440" bIns="45720" rtlCol="0" anchor="t"/>
          <a:lstStyle/>
          <a:p>
            <a:pPr marL="285750" indent="-285750">
              <a:spcBef>
                <a:spcPts val="750"/>
              </a:spcBef>
              <a:buFont typeface="Arial"/>
              <a:buChar char="•"/>
            </a:pPr>
            <a:r>
              <a:rPr lang="pt-BR" noProof="0" dirty="0">
                <a:solidFill>
                  <a:srgbClr val="000000"/>
                </a:solidFill>
                <a:ea typeface="+mn-lt"/>
                <a:cs typeface="+mn-lt"/>
              </a:rPr>
              <a:t>preservado pelas transformações de </a:t>
            </a:r>
            <a:r>
              <a:rPr lang="pt-BR" sz="1800" b="0" noProof="0" dirty="0">
                <a:solidFill>
                  <a:srgbClr val="000000"/>
                </a:solidFill>
                <a:effectLst/>
                <a:ea typeface="+mn-lt"/>
                <a:cs typeface="+mn-lt"/>
              </a:rPr>
              <a:t>Lorentz</a:t>
            </a:r>
            <a:r>
              <a:rPr lang="pt-BR" sz="1800" b="0" noProof="0" dirty="0">
                <a:solidFill>
                  <a:srgbClr val="000000"/>
                </a:solidFill>
                <a:effectLst/>
                <a:latin typeface="Avenir"/>
              </a:rPr>
              <a:t>.</a:t>
            </a:r>
            <a:r>
              <a:rPr lang="pt-BR" noProof="0" dirty="0">
                <a:effectLst/>
              </a:rPr>
              <a:t> </a:t>
            </a:r>
            <a:endParaRPr lang="pt-BR" noProof="0" dirty="0"/>
          </a:p>
        </p:txBody>
      </p:sp>
      <p:sp>
        <p:nvSpPr>
          <p:cNvPr id="12" name="TextBox 11">
            <a:extLst>
              <a:ext uri="{FF2B5EF4-FFF2-40B4-BE49-F238E27FC236}">
                <a16:creationId xmlns:a16="http://schemas.microsoft.com/office/drawing/2014/main" id="{8C0A127D-CE47-4A5D-91E1-E244E071BF7B}"/>
              </a:ext>
            </a:extLst>
          </p:cNvPr>
          <p:cNvSpPr txBox="1"/>
          <p:nvPr/>
        </p:nvSpPr>
        <p:spPr>
          <a:xfrm>
            <a:off x="7200900" y="4655342"/>
            <a:ext cx="4391025" cy="285750"/>
          </a:xfrm>
          <a:prstGeom prst="rect">
            <a:avLst/>
          </a:prstGeom>
          <a:noFill/>
        </p:spPr>
        <p:txBody>
          <a:bodyPr lIns="91440" tIns="45720" rIns="91440" bIns="45720" rtlCol="0" anchor="t"/>
          <a:lstStyle/>
          <a:p>
            <a:pPr>
              <a:spcBef>
                <a:spcPts val="1350"/>
              </a:spcBef>
            </a:pPr>
            <a:r>
              <a:rPr lang="pt-BR" b="1" noProof="0" dirty="0">
                <a:solidFill>
                  <a:srgbClr val="000000"/>
                </a:solidFill>
                <a:latin typeface="Arial"/>
                <a:cs typeface="Arial"/>
              </a:rPr>
              <a:t>Cones de luz </a:t>
            </a:r>
            <a:r>
              <a:rPr lang="pt-BR" sz="1800" b="1" noProof="0" dirty="0">
                <a:solidFill>
                  <a:srgbClr val="000000"/>
                </a:solidFill>
                <a:effectLst/>
                <a:latin typeface="Arial"/>
                <a:cs typeface="Arial"/>
              </a:rPr>
              <a:t>&amp; </a:t>
            </a:r>
            <a:r>
              <a:rPr lang="pt-BR" b="1" noProof="0" dirty="0">
                <a:solidFill>
                  <a:srgbClr val="000000"/>
                </a:solidFill>
                <a:latin typeface="Arial"/>
                <a:cs typeface="Arial"/>
              </a:rPr>
              <a:t>causalidade</a:t>
            </a:r>
            <a:r>
              <a:rPr lang="pt-BR" b="1" noProof="0" dirty="0">
                <a:latin typeface="Arial"/>
                <a:cs typeface="Arial"/>
              </a:rPr>
              <a:t> :</a:t>
            </a:r>
            <a:r>
              <a:rPr lang="pt-BR" b="1" noProof="0" dirty="0">
                <a:effectLst/>
                <a:latin typeface="Arial"/>
                <a:cs typeface="Arial"/>
              </a:rPr>
              <a:t> </a:t>
            </a:r>
            <a:endParaRPr lang="pt-BR" b="1" noProof="0" dirty="0">
              <a:latin typeface="Arial"/>
              <a:cs typeface="Arial"/>
            </a:endParaRPr>
          </a:p>
        </p:txBody>
      </p:sp>
      <p:sp>
        <p:nvSpPr>
          <p:cNvPr id="13" name="TextBox 12">
            <a:extLst>
              <a:ext uri="{FF2B5EF4-FFF2-40B4-BE49-F238E27FC236}">
                <a16:creationId xmlns:a16="http://schemas.microsoft.com/office/drawing/2014/main" id="{C30A5076-334D-4428-BDE1-31720F29E310}"/>
              </a:ext>
            </a:extLst>
          </p:cNvPr>
          <p:cNvSpPr txBox="1"/>
          <p:nvPr/>
        </p:nvSpPr>
        <p:spPr>
          <a:xfrm>
            <a:off x="7200900" y="5189008"/>
            <a:ext cx="4391025" cy="857250"/>
          </a:xfrm>
          <a:prstGeom prst="rect">
            <a:avLst/>
          </a:prstGeom>
          <a:noFill/>
        </p:spPr>
        <p:txBody>
          <a:bodyPr lIns="91440" tIns="45720" rIns="91440" bIns="45720" rtlCol="0" anchor="t"/>
          <a:lstStyle/>
          <a:p>
            <a:pPr marL="285750" indent="-285750">
              <a:spcBef>
                <a:spcPts val="750"/>
              </a:spcBef>
              <a:buFont typeface="Arial"/>
              <a:buChar char="•"/>
            </a:pPr>
            <a:r>
              <a:rPr lang="pt-BR" noProof="0" dirty="0">
                <a:latin typeface="Arial"/>
                <a:ea typeface="+mn-lt"/>
                <a:cs typeface="Arial"/>
              </a:rPr>
              <a:t>particionam eventos em temporais</a:t>
            </a:r>
            <a:r>
              <a:rPr lang="pt-BR" sz="1800" b="0" noProof="0" dirty="0">
                <a:effectLst/>
                <a:latin typeface="Arial"/>
                <a:ea typeface="+mn-lt"/>
                <a:cs typeface="Arial"/>
              </a:rPr>
              <a:t>, </a:t>
            </a:r>
            <a:r>
              <a:rPr lang="pt-BR" noProof="0" dirty="0">
                <a:latin typeface="Arial"/>
                <a:ea typeface="+mn-lt"/>
                <a:cs typeface="Arial"/>
              </a:rPr>
              <a:t>luminosos e espaciais, definindo influência </a:t>
            </a:r>
            <a:r>
              <a:rPr lang="pt-BR" sz="1800" b="0" noProof="0" dirty="0">
                <a:effectLst/>
                <a:latin typeface="Arial"/>
                <a:ea typeface="+mn-lt"/>
                <a:cs typeface="Arial"/>
              </a:rPr>
              <a:t>causal</a:t>
            </a:r>
            <a:endParaRPr lang="pt-BR" noProof="0" dirty="0"/>
          </a:p>
        </p:txBody>
      </p:sp>
    </p:spTree>
    <p:extLst>
      <p:ext uri="{BB962C8B-B14F-4D97-AF65-F5344CB8AC3E}">
        <p14:creationId xmlns:p14="http://schemas.microsoft.com/office/powerpoint/2010/main" val="4592483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F327AF-9F5B-446C-A3AE-BBB774AC67E6}"/>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6" name="Content Placeholder 5" descr="A conceptual illustration of a massive object like a planet or star curving a grid-like fabric of space-time, with smaller objects following curved paths around it, visually representing Einstein's general relativity. The scene should have a cosmic, scientific atmosphere, with a sense of depth and motion, but no visible or implied text, letters, or words anywhere in the image">
            <a:extLst>
              <a:ext uri="{FF2B5EF4-FFF2-40B4-BE49-F238E27FC236}">
                <a16:creationId xmlns:a16="http://schemas.microsoft.com/office/drawing/2014/main" id="{C222ABCA-EAF4-46EB-9D61-143AEC1D624B}"/>
              </a:ext>
            </a:extLst>
          </p:cNvPr>
          <p:cNvPicPr>
            <a:picLocks noGrp="1" noChangeAspect="1"/>
          </p:cNvPicPr>
          <p:nvPr>
            <p:ph sz="half" idx="2"/>
          </p:nvPr>
        </p:nvPicPr>
        <p:blipFill>
          <a:blip r:embed="rId4"/>
          <a:stretch>
            <a:fillRect/>
          </a:stretch>
        </p:blipFill>
        <p:spPr>
          <a:xfrm>
            <a:off x="5334000" y="0"/>
            <a:ext cx="6858000" cy="6858000"/>
          </a:xfrm>
          <a:prstGeom prst="rect">
            <a:avLst/>
          </a:prstGeom>
        </p:spPr>
      </p:pic>
      <p:sp>
        <p:nvSpPr>
          <p:cNvPr id="7" name="TextBox 6">
            <a:extLst>
              <a:ext uri="{FF2B5EF4-FFF2-40B4-BE49-F238E27FC236}">
                <a16:creationId xmlns:a16="http://schemas.microsoft.com/office/drawing/2014/main" id="{ECDAACD6-4F82-45E5-AD6D-370AB0D73422}"/>
              </a:ext>
            </a:extLst>
          </p:cNvPr>
          <p:cNvSpPr txBox="1"/>
          <p:nvPr/>
        </p:nvSpPr>
        <p:spPr>
          <a:xfrm>
            <a:off x="851958" y="401108"/>
            <a:ext cx="4391025" cy="656530"/>
          </a:xfrm>
          <a:prstGeom prst="rect">
            <a:avLst/>
          </a:prstGeom>
          <a:noFill/>
        </p:spPr>
        <p:txBody>
          <a:bodyPr lIns="91440" tIns="45720" rIns="91440" bIns="45720" rtlCol="0" anchor="t"/>
          <a:lstStyle/>
          <a:p>
            <a:r>
              <a:rPr lang="pt-BR" sz="3200" noProof="0" dirty="0">
                <a:solidFill>
                  <a:srgbClr val="000000"/>
                </a:solidFill>
                <a:latin typeface="Arial"/>
                <a:cs typeface="Arial"/>
              </a:rPr>
              <a:t>A Relatividade Geral </a:t>
            </a:r>
            <a:r>
              <a:rPr lang="pt-BR" noProof="0" dirty="0">
                <a:effectLst/>
              </a:rPr>
              <a:t> </a:t>
            </a:r>
            <a:endParaRPr lang="pt-BR" noProof="0" dirty="0"/>
          </a:p>
        </p:txBody>
      </p:sp>
      <p:sp>
        <p:nvSpPr>
          <p:cNvPr id="9" name="TextBox 8">
            <a:extLst>
              <a:ext uri="{FF2B5EF4-FFF2-40B4-BE49-F238E27FC236}">
                <a16:creationId xmlns:a16="http://schemas.microsoft.com/office/drawing/2014/main" id="{B9C16312-F6FC-4E44-B301-161BC44D2C1B}"/>
              </a:ext>
            </a:extLst>
          </p:cNvPr>
          <p:cNvSpPr txBox="1"/>
          <p:nvPr/>
        </p:nvSpPr>
        <p:spPr>
          <a:xfrm>
            <a:off x="481542" y="1327513"/>
            <a:ext cx="4391025" cy="771525"/>
          </a:xfrm>
          <a:prstGeom prst="rect">
            <a:avLst/>
          </a:prstGeom>
          <a:noFill/>
        </p:spPr>
        <p:txBody>
          <a:bodyPr lIns="91440" tIns="45720" rIns="91440" bIns="45720" rtlCol="0" anchor="t"/>
          <a:lstStyle/>
          <a:p>
            <a:pPr marL="285750" indent="-285750">
              <a:spcBef>
                <a:spcPts val="750"/>
              </a:spcBef>
              <a:buFont typeface="Arial"/>
              <a:buChar char="•"/>
            </a:pPr>
            <a:r>
              <a:rPr lang="pt-BR" noProof="0" dirty="0">
                <a:latin typeface="Arial"/>
                <a:ea typeface="+mn-lt"/>
                <a:cs typeface="Arial"/>
              </a:rPr>
              <a:t>Massa e energia curvam o espaço-tempo dinâmico.</a:t>
            </a:r>
          </a:p>
          <a:p>
            <a:pPr marL="285750" indent="-285750">
              <a:spcBef>
                <a:spcPts val="750"/>
              </a:spcBef>
              <a:buFont typeface="Arial"/>
              <a:buChar char="•"/>
            </a:pPr>
            <a:r>
              <a:rPr lang="pt-BR" noProof="0" dirty="0">
                <a:latin typeface="Arial"/>
                <a:ea typeface="+mn-lt"/>
                <a:cs typeface="Arial"/>
              </a:rPr>
              <a:t>Corpos em queda livre movem-se ao longo desses caminhos curvos.</a:t>
            </a:r>
          </a:p>
          <a:p>
            <a:pPr marL="285750" indent="-285750">
              <a:buFont typeface="Arial"/>
              <a:buChar char="•"/>
            </a:pPr>
            <a:endParaRPr lang="pt-BR" noProof="0" dirty="0">
              <a:latin typeface="Arial"/>
              <a:cs typeface="Arial"/>
            </a:endParaRPr>
          </a:p>
          <a:p>
            <a:pPr marL="285750" indent="-285750">
              <a:buFont typeface="Arial"/>
              <a:buChar char="•"/>
            </a:pPr>
            <a:r>
              <a:rPr lang="pt-BR" noProof="0" dirty="0">
                <a:latin typeface="Arial"/>
                <a:ea typeface="+mn-lt"/>
                <a:cs typeface="Arial"/>
              </a:rPr>
              <a:t>Medidas dependem do movimento e dos campos gravitacionais.</a:t>
            </a:r>
            <a:endParaRPr lang="pt-BR" noProof="0" dirty="0">
              <a:latin typeface="Arial"/>
              <a:cs typeface="Arial"/>
            </a:endParaRPr>
          </a:p>
          <a:p>
            <a:pPr>
              <a:buFont typeface="Arial"/>
              <a:buChar char="•"/>
            </a:pPr>
            <a:endParaRPr lang="pt-BR" noProof="0" dirty="0">
              <a:latin typeface="Arial"/>
              <a:ea typeface="+mn-lt"/>
              <a:cs typeface="Arial"/>
            </a:endParaRPr>
          </a:p>
          <a:p>
            <a:pPr marL="285750" indent="-285750">
              <a:buFont typeface="Arial"/>
              <a:buChar char="•"/>
            </a:pPr>
            <a:r>
              <a:rPr lang="pt-BR" noProof="0" dirty="0">
                <a:latin typeface="Arial"/>
                <a:ea typeface="+mn-lt"/>
                <a:cs typeface="Arial"/>
              </a:rPr>
              <a:t>Matéria–energia molda o espaço-tempo.</a:t>
            </a:r>
            <a:endParaRPr lang="pt-BR" noProof="0" dirty="0">
              <a:latin typeface="Arial"/>
              <a:cs typeface="Arial"/>
            </a:endParaRPr>
          </a:p>
          <a:p>
            <a:pPr>
              <a:buFont typeface="Arial"/>
              <a:buChar char="•"/>
            </a:pPr>
            <a:endParaRPr lang="pt-BR" noProof="0" dirty="0">
              <a:latin typeface="Arial"/>
              <a:ea typeface="+mn-lt"/>
              <a:cs typeface="Arial"/>
            </a:endParaRPr>
          </a:p>
          <a:p>
            <a:pPr marL="285750" indent="-285750">
              <a:buFont typeface="Arial"/>
              <a:buChar char="•"/>
            </a:pPr>
            <a:r>
              <a:rPr lang="pt-BR" noProof="0" dirty="0">
                <a:latin typeface="Arial"/>
                <a:ea typeface="+mn-lt"/>
                <a:cs typeface="Arial"/>
              </a:rPr>
              <a:t>A curvatura guia o movimento: objetos e luz seguem trajetórias definidas pela geometria.</a:t>
            </a:r>
            <a:endParaRPr lang="pt-BR" noProof="0" dirty="0">
              <a:latin typeface="Arial"/>
              <a:cs typeface="Arial"/>
            </a:endParaRPr>
          </a:p>
          <a:p>
            <a:pPr>
              <a:buFont typeface="Arial"/>
              <a:buChar char="•"/>
            </a:pPr>
            <a:endParaRPr lang="pt-BR" noProof="0" dirty="0">
              <a:latin typeface="Arial"/>
              <a:ea typeface="+mn-lt"/>
              <a:cs typeface="Arial"/>
            </a:endParaRPr>
          </a:p>
          <a:p>
            <a:pPr marL="285750" indent="-285750">
              <a:buFont typeface="Arial"/>
              <a:buChar char="•"/>
            </a:pPr>
            <a:r>
              <a:rPr lang="pt-BR" noProof="0" dirty="0">
                <a:latin typeface="Arial"/>
                <a:ea typeface="+mn-lt"/>
                <a:cs typeface="Arial"/>
              </a:rPr>
              <a:t>Estrutura flexível e em evolução: distribuições de energia em mudança alteram a curvatura ao longo do tempo.</a:t>
            </a:r>
            <a:endParaRPr lang="pt-BR" noProof="0" dirty="0">
              <a:latin typeface="Arial"/>
              <a:cs typeface="Arial"/>
            </a:endParaRPr>
          </a:p>
          <a:p>
            <a:pPr marL="285750" indent="-285750">
              <a:buFont typeface="Arial"/>
              <a:buChar char="•"/>
            </a:pPr>
            <a:endParaRPr lang="pt-BR" noProof="0" dirty="0">
              <a:latin typeface="Arial"/>
              <a:cs typeface="Arial"/>
            </a:endParaRPr>
          </a:p>
          <a:p>
            <a:pPr marL="285750" indent="-285750">
              <a:spcBef>
                <a:spcPts val="750"/>
              </a:spcBef>
              <a:buFont typeface="Arial" panose="020B0604020202020204" pitchFamily="34" charset="0"/>
              <a:buChar char="•"/>
            </a:pPr>
            <a:endParaRPr lang="pt-BR" noProof="0" dirty="0">
              <a:latin typeface="Arial"/>
              <a:cs typeface="Arial"/>
            </a:endParaRPr>
          </a:p>
          <a:p>
            <a:pPr marL="285750" indent="-285750">
              <a:spcBef>
                <a:spcPts val="750"/>
              </a:spcBef>
              <a:buFont typeface="Arial" panose="020B0604020202020204" pitchFamily="34" charset="0"/>
              <a:buChar char="•"/>
            </a:pPr>
            <a:endParaRPr lang="pt-BR" noProof="0" dirty="0">
              <a:latin typeface="Arial"/>
              <a:cs typeface="Arial"/>
            </a:endParaRPr>
          </a:p>
        </p:txBody>
      </p:sp>
    </p:spTree>
    <p:extLst>
      <p:ext uri="{BB962C8B-B14F-4D97-AF65-F5344CB8AC3E}">
        <p14:creationId xmlns:p14="http://schemas.microsoft.com/office/powerpoint/2010/main" val="9456610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EA9B72D-2A48-45A1-B993-A0AB1A89BB38}"/>
              </a:ext>
            </a:extLst>
          </p:cNvPr>
          <p:cNvPicPr>
            <a:picLocks noGrp="1" noChangeAspect="1"/>
          </p:cNvPicPr>
          <p:nvPr>
            <p:ph sz="half" idx="1"/>
          </p:nvPr>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AA90A475-814C-48D1-9949-D218FED7C834}"/>
              </a:ext>
            </a:extLst>
          </p:cNvPr>
          <p:cNvSpPr>
            <a:spLocks noGrp="1"/>
          </p:cNvSpPr>
          <p:nvPr>
            <p:ph sz="half" idx="2"/>
          </p:nvPr>
        </p:nvSpPr>
        <p:spPr>
          <a:xfrm>
            <a:off x="4797425" y="257175"/>
            <a:ext cx="10953750" cy="670470"/>
          </a:xfrm>
        </p:spPr>
        <p:txBody>
          <a:bodyPr vert="horz" lIns="91440" tIns="45720" rIns="91440" bIns="45720" rtlCol="0" anchor="t">
            <a:normAutofit fontScale="92500" lnSpcReduction="10000"/>
          </a:bodyPr>
          <a:lstStyle/>
          <a:p>
            <a:pPr marL="0" indent="0">
              <a:spcBef>
                <a:spcPts val="450"/>
              </a:spcBef>
              <a:buNone/>
            </a:pPr>
            <a:r>
              <a:rPr lang="pt-BR" sz="4800" noProof="0" dirty="0">
                <a:solidFill>
                  <a:srgbClr val="000000"/>
                </a:solidFill>
                <a:latin typeface="Arial"/>
                <a:cs typeface="Arial"/>
              </a:rPr>
              <a:t>Conclusão</a:t>
            </a:r>
            <a:endParaRPr lang="pt-BR" noProof="0" dirty="0">
              <a:latin typeface="Arial"/>
              <a:cs typeface="Arial"/>
            </a:endParaRPr>
          </a:p>
        </p:txBody>
      </p:sp>
      <p:sp>
        <p:nvSpPr>
          <p:cNvPr id="6" name="TextBox 5">
            <a:extLst>
              <a:ext uri="{FF2B5EF4-FFF2-40B4-BE49-F238E27FC236}">
                <a16:creationId xmlns:a16="http://schemas.microsoft.com/office/drawing/2014/main" id="{BAE07077-CE29-4660-8671-A729ED89B9D3}"/>
              </a:ext>
            </a:extLst>
          </p:cNvPr>
          <p:cNvSpPr txBox="1"/>
          <p:nvPr/>
        </p:nvSpPr>
        <p:spPr>
          <a:xfrm>
            <a:off x="405342" y="1247858"/>
            <a:ext cx="2524125" cy="2012900"/>
          </a:xfrm>
          <a:prstGeom prst="rect">
            <a:avLst/>
          </a:prstGeom>
          <a:noFill/>
        </p:spPr>
        <p:txBody>
          <a:bodyPr lIns="91440" tIns="45720" rIns="91440" bIns="45720" rtlCol="0" anchor="t"/>
          <a:lstStyle/>
          <a:p>
            <a:pPr>
              <a:spcBef>
                <a:spcPts val="1350"/>
              </a:spcBef>
            </a:pPr>
            <a:r>
              <a:rPr lang="pt-BR" sz="1600" b="1" noProof="0" dirty="0">
                <a:solidFill>
                  <a:srgbClr val="000000"/>
                </a:solidFill>
                <a:latin typeface="Arial"/>
                <a:cs typeface="Arial"/>
              </a:rPr>
              <a:t>Do absoluto ao relativo</a:t>
            </a:r>
            <a:r>
              <a:rPr lang="pt-BR" sz="1600" noProof="0" dirty="0">
                <a:solidFill>
                  <a:srgbClr val="000000"/>
                </a:solidFill>
                <a:latin typeface="Arial"/>
                <a:cs typeface="Arial"/>
              </a:rPr>
              <a:t> </a:t>
            </a:r>
            <a:endParaRPr lang="pt-BR" sz="1600" noProof="0" dirty="0">
              <a:effectLst/>
              <a:latin typeface="Arial"/>
              <a:cs typeface="Arial"/>
            </a:endParaRPr>
          </a:p>
          <a:p>
            <a:pPr>
              <a:spcBef>
                <a:spcPts val="1200"/>
              </a:spcBef>
            </a:pPr>
            <a:r>
              <a:rPr lang="pt-BR" sz="1600" noProof="0" dirty="0">
                <a:solidFill>
                  <a:srgbClr val="000000"/>
                </a:solidFill>
                <a:latin typeface="Arial"/>
                <a:cs typeface="Arial"/>
              </a:rPr>
              <a:t>Espaço e tempo deixam de ser cenários fixos e passam a ser medidas interconectadas, modeladas por observadores e pelo movimento</a:t>
            </a:r>
            <a:r>
              <a:rPr lang="pt-BR" sz="1400" b="0" noProof="0" dirty="0">
                <a:solidFill>
                  <a:srgbClr val="000000"/>
                </a:solidFill>
                <a:effectLst/>
                <a:latin typeface="Avenir"/>
              </a:rPr>
              <a:t>.</a:t>
            </a:r>
            <a:r>
              <a:rPr lang="pt-BR" noProof="0" dirty="0">
                <a:effectLst/>
              </a:rPr>
              <a:t> </a:t>
            </a:r>
            <a:endParaRPr lang="pt-BR" noProof="0" dirty="0"/>
          </a:p>
        </p:txBody>
      </p:sp>
      <p:sp>
        <p:nvSpPr>
          <p:cNvPr id="7" name="TextBox 6">
            <a:extLst>
              <a:ext uri="{FF2B5EF4-FFF2-40B4-BE49-F238E27FC236}">
                <a16:creationId xmlns:a16="http://schemas.microsoft.com/office/drawing/2014/main" id="{2EBC5D5D-0996-4CE8-9CED-806736A73377}"/>
              </a:ext>
            </a:extLst>
          </p:cNvPr>
          <p:cNvSpPr txBox="1"/>
          <p:nvPr/>
        </p:nvSpPr>
        <p:spPr>
          <a:xfrm>
            <a:off x="3575050" y="1247858"/>
            <a:ext cx="2524125" cy="1738610"/>
          </a:xfrm>
          <a:prstGeom prst="rect">
            <a:avLst/>
          </a:prstGeom>
          <a:noFill/>
        </p:spPr>
        <p:txBody>
          <a:bodyPr lIns="91440" tIns="45720" rIns="91440" bIns="45720" rtlCol="0" anchor="t"/>
          <a:lstStyle/>
          <a:p>
            <a:pPr>
              <a:spcBef>
                <a:spcPts val="1350"/>
              </a:spcBef>
            </a:pPr>
            <a:r>
              <a:rPr lang="pt-BR" sz="1600" b="1" noProof="0" dirty="0">
                <a:solidFill>
                  <a:srgbClr val="000000"/>
                </a:solidFill>
                <a:latin typeface="Arial"/>
                <a:cs typeface="Arial"/>
              </a:rPr>
              <a:t>Espaço-tempo dinâmico</a:t>
            </a:r>
            <a:r>
              <a:rPr lang="pt-BR" sz="1600" noProof="0" dirty="0">
                <a:solidFill>
                  <a:srgbClr val="000000"/>
                </a:solidFill>
                <a:latin typeface="Arial"/>
                <a:cs typeface="Arial"/>
              </a:rPr>
              <a:t> </a:t>
            </a:r>
            <a:endParaRPr lang="pt-BR" sz="1600" noProof="0" dirty="0">
              <a:effectLst/>
              <a:latin typeface="Arial"/>
              <a:cs typeface="Arial"/>
            </a:endParaRPr>
          </a:p>
          <a:p>
            <a:pPr>
              <a:spcBef>
                <a:spcPts val="1200"/>
              </a:spcBef>
            </a:pPr>
            <a:r>
              <a:rPr lang="pt-BR" sz="1600" noProof="0" dirty="0">
                <a:solidFill>
                  <a:srgbClr val="000000"/>
                </a:solidFill>
                <a:latin typeface="Arial"/>
                <a:cs typeface="Arial"/>
              </a:rPr>
              <a:t>curvado pela massa-energia e evoluindo com os processos físicos</a:t>
            </a:r>
            <a:r>
              <a:rPr lang="pt-BR" sz="1600" b="0" noProof="0" dirty="0">
                <a:solidFill>
                  <a:srgbClr val="000000"/>
                </a:solidFill>
                <a:effectLst/>
                <a:latin typeface="Arial"/>
                <a:cs typeface="Arial"/>
              </a:rPr>
              <a:t>.</a:t>
            </a:r>
            <a:r>
              <a:rPr lang="pt-BR" sz="1600" noProof="0" dirty="0">
                <a:effectLst/>
                <a:latin typeface="Arial"/>
                <a:cs typeface="Arial"/>
              </a:rPr>
              <a:t> </a:t>
            </a:r>
            <a:endParaRPr lang="pt-BR" sz="1600" noProof="0" dirty="0">
              <a:latin typeface="Arial"/>
              <a:cs typeface="Arial"/>
            </a:endParaRPr>
          </a:p>
        </p:txBody>
      </p:sp>
      <p:sp>
        <p:nvSpPr>
          <p:cNvPr id="8" name="TextBox 7">
            <a:extLst>
              <a:ext uri="{FF2B5EF4-FFF2-40B4-BE49-F238E27FC236}">
                <a16:creationId xmlns:a16="http://schemas.microsoft.com/office/drawing/2014/main" id="{9BE411E6-7858-4F77-99F3-519B33824DC2}"/>
              </a:ext>
            </a:extLst>
          </p:cNvPr>
          <p:cNvSpPr txBox="1"/>
          <p:nvPr/>
        </p:nvSpPr>
        <p:spPr>
          <a:xfrm>
            <a:off x="6363758" y="1247858"/>
            <a:ext cx="2524125" cy="2275284"/>
          </a:xfrm>
          <a:prstGeom prst="rect">
            <a:avLst/>
          </a:prstGeom>
          <a:noFill/>
        </p:spPr>
        <p:txBody>
          <a:bodyPr lIns="91440" tIns="45720" rIns="91440" bIns="45720" rtlCol="0" anchor="t"/>
          <a:lstStyle/>
          <a:p>
            <a:pPr>
              <a:spcBef>
                <a:spcPts val="1350"/>
              </a:spcBef>
            </a:pPr>
            <a:r>
              <a:rPr lang="pt-BR" sz="1600" b="1" noProof="0" dirty="0">
                <a:solidFill>
                  <a:srgbClr val="000000"/>
                </a:solidFill>
                <a:latin typeface="Arial"/>
                <a:cs typeface="Arial"/>
              </a:rPr>
              <a:t>Implicações científicas</a:t>
            </a:r>
            <a:r>
              <a:rPr lang="pt-BR" sz="1600" noProof="0" dirty="0">
                <a:solidFill>
                  <a:srgbClr val="000000"/>
                </a:solidFill>
                <a:latin typeface="Arial"/>
                <a:cs typeface="Arial"/>
              </a:rPr>
              <a:t> </a:t>
            </a:r>
            <a:endParaRPr lang="pt-BR" sz="1600" noProof="0" dirty="0">
              <a:effectLst/>
              <a:latin typeface="Arial"/>
              <a:cs typeface="Arial"/>
            </a:endParaRPr>
          </a:p>
          <a:p>
            <a:pPr>
              <a:spcBef>
                <a:spcPts val="1200"/>
              </a:spcBef>
            </a:pPr>
            <a:r>
              <a:rPr lang="pt-BR" sz="1600" noProof="0" dirty="0">
                <a:solidFill>
                  <a:srgbClr val="000000"/>
                </a:solidFill>
                <a:latin typeface="Arial"/>
                <a:cs typeface="Arial"/>
              </a:rPr>
              <a:t>A relatividade reformula a medição</a:t>
            </a:r>
            <a:r>
              <a:rPr lang="pt-BR" sz="1600" b="0" noProof="0" dirty="0">
                <a:solidFill>
                  <a:srgbClr val="000000"/>
                </a:solidFill>
                <a:effectLst/>
                <a:latin typeface="Arial"/>
                <a:cs typeface="Arial"/>
              </a:rPr>
              <a:t>, </a:t>
            </a:r>
            <a:r>
              <a:rPr lang="pt-BR" sz="1600" noProof="0" dirty="0">
                <a:solidFill>
                  <a:srgbClr val="000000"/>
                </a:solidFill>
                <a:latin typeface="Arial"/>
                <a:cs typeface="Arial"/>
              </a:rPr>
              <a:t>a causalidade e a cosmologia</a:t>
            </a:r>
            <a:r>
              <a:rPr lang="pt-BR" sz="1600" b="0" noProof="0" dirty="0">
                <a:solidFill>
                  <a:srgbClr val="000000"/>
                </a:solidFill>
                <a:effectLst/>
                <a:latin typeface="Arial"/>
                <a:cs typeface="Arial"/>
              </a:rPr>
              <a:t>, </a:t>
            </a:r>
            <a:r>
              <a:rPr lang="pt-BR" sz="1600" noProof="0" dirty="0">
                <a:solidFill>
                  <a:srgbClr val="000000"/>
                </a:solidFill>
                <a:latin typeface="Arial"/>
                <a:cs typeface="Arial"/>
              </a:rPr>
              <a:t>orientando pesquisas atuais em gravitação e teoria quântica</a:t>
            </a:r>
            <a:r>
              <a:rPr lang="pt-BR" sz="1600" b="0" noProof="0" dirty="0">
                <a:solidFill>
                  <a:srgbClr val="000000"/>
                </a:solidFill>
                <a:effectLst/>
                <a:latin typeface="Arial"/>
                <a:cs typeface="Arial"/>
              </a:rPr>
              <a:t>.</a:t>
            </a:r>
            <a:r>
              <a:rPr lang="pt-BR" sz="1600" noProof="0" dirty="0">
                <a:effectLst/>
                <a:latin typeface="Arial"/>
                <a:cs typeface="Arial"/>
              </a:rPr>
              <a:t> </a:t>
            </a:r>
            <a:endParaRPr lang="pt-BR" sz="1600" noProof="0" dirty="0">
              <a:latin typeface="Aptos" panose="02110004020202020204"/>
              <a:cs typeface="Arial"/>
            </a:endParaRPr>
          </a:p>
        </p:txBody>
      </p:sp>
      <p:sp>
        <p:nvSpPr>
          <p:cNvPr id="9" name="TextBox 8">
            <a:extLst>
              <a:ext uri="{FF2B5EF4-FFF2-40B4-BE49-F238E27FC236}">
                <a16:creationId xmlns:a16="http://schemas.microsoft.com/office/drawing/2014/main" id="{958AC1E4-0A1C-48B8-B064-BDBA7D6F0EEC}"/>
              </a:ext>
            </a:extLst>
          </p:cNvPr>
          <p:cNvSpPr txBox="1"/>
          <p:nvPr/>
        </p:nvSpPr>
        <p:spPr>
          <a:xfrm>
            <a:off x="9279467" y="1247858"/>
            <a:ext cx="2524125" cy="2012900"/>
          </a:xfrm>
          <a:prstGeom prst="rect">
            <a:avLst/>
          </a:prstGeom>
          <a:noFill/>
        </p:spPr>
        <p:txBody>
          <a:bodyPr lIns="91440" tIns="45720" rIns="91440" bIns="45720" rtlCol="0" anchor="t"/>
          <a:lstStyle/>
          <a:p>
            <a:pPr>
              <a:spcBef>
                <a:spcPts val="1350"/>
              </a:spcBef>
            </a:pPr>
            <a:r>
              <a:rPr lang="pt-BR" sz="1600" b="1" noProof="0" dirty="0">
                <a:solidFill>
                  <a:srgbClr val="000000"/>
                </a:solidFill>
                <a:latin typeface="Arial"/>
                <a:cs typeface="Arial"/>
              </a:rPr>
              <a:t>Questões </a:t>
            </a:r>
            <a:r>
              <a:rPr lang="pt-BR" sz="1600" b="1" noProof="0" dirty="0">
                <a:latin typeface="Arial"/>
                <a:cs typeface="Arial"/>
              </a:rPr>
              <a:t>filosóficas</a:t>
            </a:r>
            <a:r>
              <a:rPr lang="pt-BR" sz="1600" noProof="0" dirty="0">
                <a:latin typeface="Arial"/>
                <a:cs typeface="Arial"/>
              </a:rPr>
              <a:t> </a:t>
            </a:r>
            <a:endParaRPr lang="pt-BR" sz="1600" noProof="0" dirty="0">
              <a:effectLst/>
              <a:latin typeface="Arial"/>
              <a:cs typeface="Arial"/>
            </a:endParaRPr>
          </a:p>
          <a:p>
            <a:pPr>
              <a:spcBef>
                <a:spcPts val="1200"/>
              </a:spcBef>
            </a:pPr>
            <a:r>
              <a:rPr lang="pt-BR" sz="1600" noProof="0" dirty="0">
                <a:solidFill>
                  <a:srgbClr val="000000"/>
                </a:solidFill>
                <a:latin typeface="Arial"/>
                <a:cs typeface="Arial"/>
              </a:rPr>
              <a:t>Essas mudanças continuam a desafiar intuições sobre realidade</a:t>
            </a:r>
            <a:r>
              <a:rPr lang="pt-BR" sz="1600" b="0" noProof="0" dirty="0">
                <a:solidFill>
                  <a:srgbClr val="000000"/>
                </a:solidFill>
                <a:effectLst/>
                <a:latin typeface="Arial"/>
                <a:cs typeface="Arial"/>
              </a:rPr>
              <a:t>, </a:t>
            </a:r>
            <a:r>
              <a:rPr lang="pt-BR" sz="1600" noProof="0" dirty="0">
                <a:solidFill>
                  <a:srgbClr val="000000"/>
                </a:solidFill>
                <a:latin typeface="Arial"/>
                <a:cs typeface="Arial"/>
              </a:rPr>
              <a:t>objetividade e o fluxo do tempo</a:t>
            </a:r>
            <a:r>
              <a:rPr lang="pt-BR" sz="1600" noProof="0" dirty="0">
                <a:latin typeface="Arial"/>
                <a:cs typeface="Arial"/>
              </a:rPr>
              <a:t>.</a:t>
            </a:r>
            <a:r>
              <a:rPr lang="pt-BR" sz="1600" noProof="0" dirty="0">
                <a:effectLst/>
                <a:latin typeface="Arial"/>
                <a:cs typeface="Arial"/>
              </a:rPr>
              <a:t> </a:t>
            </a:r>
            <a:endParaRPr lang="pt-BR" noProof="0" dirty="0">
              <a:latin typeface="Arial"/>
              <a:cs typeface="Arial"/>
            </a:endParaRPr>
          </a:p>
        </p:txBody>
      </p:sp>
      <p:sp>
        <p:nvSpPr>
          <p:cNvPr id="2" name="TextBox 8">
            <a:extLst>
              <a:ext uri="{FF2B5EF4-FFF2-40B4-BE49-F238E27FC236}">
                <a16:creationId xmlns:a16="http://schemas.microsoft.com/office/drawing/2014/main" id="{34F631BC-401F-481D-E4D4-ABE3647A123C}"/>
              </a:ext>
            </a:extLst>
          </p:cNvPr>
          <p:cNvSpPr txBox="1"/>
          <p:nvPr/>
        </p:nvSpPr>
        <p:spPr>
          <a:xfrm>
            <a:off x="1500716" y="3936024"/>
            <a:ext cx="2524125" cy="2012900"/>
          </a:xfrm>
          <a:prstGeom prst="rect">
            <a:avLst/>
          </a:prstGeom>
          <a:noFill/>
        </p:spPr>
        <p:txBody>
          <a:bodyPr lIns="91440" tIns="45720" rIns="91440" bIns="45720" rtlCol="0" anchor="t"/>
          <a:lstStyle/>
          <a:p>
            <a:r>
              <a:rPr lang="pt-BR" sz="1600" b="1" noProof="0" dirty="0">
                <a:solidFill>
                  <a:srgbClr val="000000"/>
                </a:solidFill>
                <a:latin typeface="Arial"/>
                <a:cs typeface="Arial"/>
              </a:rPr>
              <a:t>Evolução das ideias </a:t>
            </a:r>
            <a:endParaRPr lang="pt-BR" sz="1600" noProof="0" dirty="0">
              <a:effectLst/>
              <a:latin typeface="Arial"/>
              <a:cs typeface="Arial"/>
            </a:endParaRPr>
          </a:p>
          <a:p>
            <a:pPr>
              <a:spcBef>
                <a:spcPts val="1200"/>
              </a:spcBef>
            </a:pPr>
            <a:r>
              <a:rPr lang="pt-BR" sz="1600" noProof="0" dirty="0">
                <a:solidFill>
                  <a:srgbClr val="000000"/>
                </a:solidFill>
                <a:latin typeface="Arial"/>
                <a:cs typeface="Arial"/>
              </a:rPr>
              <a:t>Da mecânica clássica à relatividade, cada etapa refinou como definimos espaço</a:t>
            </a:r>
            <a:r>
              <a:rPr lang="pt-BR" sz="1600" b="0" noProof="0" dirty="0">
                <a:solidFill>
                  <a:srgbClr val="000000"/>
                </a:solidFill>
                <a:effectLst/>
                <a:latin typeface="Arial"/>
                <a:cs typeface="Arial"/>
              </a:rPr>
              <a:t>, </a:t>
            </a:r>
            <a:r>
              <a:rPr lang="pt-BR" sz="1600" noProof="0" dirty="0">
                <a:solidFill>
                  <a:srgbClr val="000000"/>
                </a:solidFill>
                <a:latin typeface="Arial"/>
                <a:cs typeface="Arial"/>
              </a:rPr>
              <a:t>tempo e movimento.</a:t>
            </a:r>
            <a:endParaRPr lang="pt-BR" sz="1600" noProof="0" dirty="0">
              <a:latin typeface="Arial"/>
              <a:cs typeface="Arial"/>
            </a:endParaRPr>
          </a:p>
        </p:txBody>
      </p:sp>
      <p:sp>
        <p:nvSpPr>
          <p:cNvPr id="3" name="TextBox 8">
            <a:extLst>
              <a:ext uri="{FF2B5EF4-FFF2-40B4-BE49-F238E27FC236}">
                <a16:creationId xmlns:a16="http://schemas.microsoft.com/office/drawing/2014/main" id="{0808993F-354E-30C8-BBA1-E46C7B9C0A5D}"/>
              </a:ext>
            </a:extLst>
          </p:cNvPr>
          <p:cNvSpPr txBox="1"/>
          <p:nvPr/>
        </p:nvSpPr>
        <p:spPr>
          <a:xfrm>
            <a:off x="4612217" y="3936024"/>
            <a:ext cx="2524125" cy="2012900"/>
          </a:xfrm>
          <a:prstGeom prst="rect">
            <a:avLst/>
          </a:prstGeom>
          <a:noFill/>
        </p:spPr>
        <p:txBody>
          <a:bodyPr lIns="91440" tIns="45720" rIns="91440" bIns="45720" rtlCol="0" anchor="t"/>
          <a:lstStyle/>
          <a:p>
            <a:r>
              <a:rPr lang="pt-BR" sz="1600" b="1" noProof="0" dirty="0">
                <a:solidFill>
                  <a:srgbClr val="000000"/>
                </a:solidFill>
                <a:latin typeface="Arial"/>
                <a:cs typeface="Arial"/>
              </a:rPr>
              <a:t>O progresso reformula a realidade </a:t>
            </a:r>
            <a:endParaRPr lang="pt-BR" sz="1600" noProof="0" dirty="0">
              <a:solidFill>
                <a:srgbClr val="000000"/>
              </a:solidFill>
              <a:latin typeface="Arial"/>
              <a:cs typeface="Arial"/>
            </a:endParaRPr>
          </a:p>
          <a:p>
            <a:pPr>
              <a:spcBef>
                <a:spcPts val="1200"/>
              </a:spcBef>
            </a:pPr>
            <a:r>
              <a:rPr lang="pt-BR" sz="1600" noProof="0" dirty="0">
                <a:solidFill>
                  <a:srgbClr val="000000"/>
                </a:solidFill>
                <a:latin typeface="Arial"/>
                <a:cs typeface="Arial"/>
              </a:rPr>
              <a:t>Os avanços científicos não apenas acrescentam fatos — eles transformam o arcabouço que usamos para interpretar o universo.</a:t>
            </a:r>
            <a:r>
              <a:rPr lang="pt-BR" sz="1600" noProof="0" dirty="0">
                <a:effectLst/>
                <a:latin typeface="Arial"/>
                <a:cs typeface="Arial"/>
              </a:rPr>
              <a:t> </a:t>
            </a:r>
            <a:endParaRPr lang="pt-BR" sz="1600" noProof="0" dirty="0">
              <a:latin typeface="Arial"/>
              <a:cs typeface="Arial"/>
            </a:endParaRPr>
          </a:p>
        </p:txBody>
      </p:sp>
      <p:sp>
        <p:nvSpPr>
          <p:cNvPr id="10" name="TextBox 8">
            <a:extLst>
              <a:ext uri="{FF2B5EF4-FFF2-40B4-BE49-F238E27FC236}">
                <a16:creationId xmlns:a16="http://schemas.microsoft.com/office/drawing/2014/main" id="{DB881821-A0D6-6467-5797-8C62136439FF}"/>
              </a:ext>
            </a:extLst>
          </p:cNvPr>
          <p:cNvSpPr txBox="1"/>
          <p:nvPr/>
        </p:nvSpPr>
        <p:spPr>
          <a:xfrm>
            <a:off x="8020050" y="3936024"/>
            <a:ext cx="2524125" cy="2012900"/>
          </a:xfrm>
          <a:prstGeom prst="rect">
            <a:avLst/>
          </a:prstGeom>
          <a:noFill/>
        </p:spPr>
        <p:txBody>
          <a:bodyPr lIns="91440" tIns="45720" rIns="91440" bIns="45720" rtlCol="0" anchor="t"/>
          <a:lstStyle/>
          <a:p>
            <a:r>
              <a:rPr lang="pt-BR" sz="1600" b="1" noProof="0" dirty="0">
                <a:solidFill>
                  <a:srgbClr val="000000"/>
                </a:solidFill>
                <a:latin typeface="Arial"/>
                <a:cs typeface="Arial"/>
              </a:rPr>
              <a:t>Consideração</a:t>
            </a:r>
            <a:r>
              <a:rPr lang="pt-BR" sz="1600" b="1" noProof="0" dirty="0">
                <a:latin typeface="Arial"/>
                <a:cs typeface="Arial"/>
              </a:rPr>
              <a:t> final </a:t>
            </a:r>
            <a:endParaRPr lang="pt-BR" sz="1600" b="1" noProof="0" dirty="0">
              <a:effectLst/>
              <a:latin typeface="Arial"/>
              <a:cs typeface="Arial"/>
            </a:endParaRPr>
          </a:p>
          <a:p>
            <a:pPr>
              <a:spcBef>
                <a:spcPts val="1200"/>
              </a:spcBef>
            </a:pPr>
            <a:r>
              <a:rPr lang="pt-BR" sz="1600" noProof="0" dirty="0">
                <a:solidFill>
                  <a:srgbClr val="000000"/>
                </a:solidFill>
                <a:latin typeface="Arial"/>
                <a:cs typeface="Arial"/>
              </a:rPr>
              <a:t>Nosso entendimento permanece provisório — guiado por evidências</a:t>
            </a:r>
            <a:r>
              <a:rPr lang="pt-BR" sz="1600" b="0" noProof="0" dirty="0">
                <a:solidFill>
                  <a:srgbClr val="000000"/>
                </a:solidFill>
                <a:effectLst/>
                <a:latin typeface="Arial"/>
                <a:cs typeface="Arial"/>
              </a:rPr>
              <a:t>, </a:t>
            </a:r>
            <a:r>
              <a:rPr lang="pt-BR" sz="1600" noProof="0" dirty="0">
                <a:solidFill>
                  <a:srgbClr val="000000"/>
                </a:solidFill>
                <a:latin typeface="Arial"/>
                <a:cs typeface="Arial"/>
              </a:rPr>
              <a:t>esclarecido pela teoria e aberto a revisões.</a:t>
            </a:r>
            <a:r>
              <a:rPr lang="pt-BR" sz="1600" noProof="0" dirty="0">
                <a:effectLst/>
                <a:latin typeface="Arial"/>
                <a:cs typeface="Arial"/>
              </a:rPr>
              <a:t> </a:t>
            </a:r>
            <a:endParaRPr lang="pt-BR" sz="1600" noProof="0" dirty="0">
              <a:latin typeface="Arial"/>
              <a:cs typeface="Arial"/>
            </a:endParaRPr>
          </a:p>
        </p:txBody>
      </p:sp>
    </p:spTree>
    <p:extLst>
      <p:ext uri="{BB962C8B-B14F-4D97-AF65-F5344CB8AC3E}">
        <p14:creationId xmlns:p14="http://schemas.microsoft.com/office/powerpoint/2010/main" val="1988393627"/>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1081</Words>
  <Application>Microsoft Office PowerPoint</Application>
  <PresentationFormat>Widescreen</PresentationFormat>
  <Paragraphs>119</Paragraphs>
  <Slides>13</Slides>
  <Notes>13</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13</vt:i4>
      </vt:variant>
    </vt:vector>
  </HeadingPairs>
  <TitlesOfParts>
    <vt:vector size="20" baseType="lpstr">
      <vt:lpstr>Aptos</vt:lpstr>
      <vt:lpstr>Aptos Display</vt:lpstr>
      <vt:lpstr>Arial</vt:lpstr>
      <vt:lpstr>Avenir</vt:lpstr>
      <vt:lpstr>Calibri</vt:lpstr>
      <vt:lpstr>Mongolian Baiti</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Paulo Augusto de Almeida Silva</dc:creator>
  <cp:lastModifiedBy>Paulo Augusto de Almeida Silva</cp:lastModifiedBy>
  <cp:revision>367</cp:revision>
  <dcterms:created xsi:type="dcterms:W3CDTF">2026-04-10T00:42:17Z</dcterms:created>
  <dcterms:modified xsi:type="dcterms:W3CDTF">2026-04-13T19:03:58Z</dcterms:modified>
</cp:coreProperties>
</file>